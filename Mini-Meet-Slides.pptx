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ca8e7a1-26c1-9bbf-ea5c-f98d16724902}">
          <p14:sldIdLst>
            <p14:sldId id="256"/>
            <p14:sldId id="257"/>
          </p14:sldIdLst>
        </p14:section>
        <p14:section name="How it works" id="{6b732626-2858-125a-a6db-e427478d1d26}">
          <p14:sldIdLst>
            <p14:sldId id="258"/>
            <p14:sldId id="259"/>
            <p14:sldId id="260"/>
            <p14:sldId id="261"/>
            <p14:sldId id="262"/>
            <p14:sldId id="263"/>
            <p14:sldId id="264"/>
            <p14:sldId id="265"/>
          </p14:sldIdLst>
        </p14:section>
        <p14:section name="Evaluation" id="{3101de48-dec6-7af4-febb-d2bdf2f0e2c5}">
          <p14:sldIdLst>
            <p14:sldId id="266"/>
            <p14:sldId id="267"/>
            <p14:sldId id="268"/>
            <p14:sldId id="269"/>
          </p14:sldIdLst>
        </p14:section>
        <p14:section name="Wrap-up" id="{59be412e-cb99-cb1a-c96c-d282333e1a1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Audio concealed (%)</a:t>
            </a:r>
          </a:p>
        </c:rich>
      </c:tx>
      <c:layout/>
      <c:overlay val="0"/>
    </c:title>
    <c:autoTitleDeleted val="0"/>
    <c:plotArea>
      <c:layout/>
      <c:barChart>
        <c:barDir val="bar"/>
        <c:grouping val="clustered"/>
        <c:varyColors val="0"/>
        <c:ser>
          <c:idx val="0"/>
          <c:order val="0"/>
          <c:tx>
            <c:strRef>
              <c:f>Sheet1!$B$1</c:f>
              <c:strCache>
                <c:ptCount val="1"/>
                <c:pt idx="0">
                  <c:v>buffer off</c:v>
                </c:pt>
              </c:strCache>
            </c:strRef>
          </c:tx>
          <c:spPr>
            <a:solidFill>
              <a:srgbClr val="5B6779"/>
            </a:solidFill>
            <a:effectLst/>
          </c:spPr>
          <c:invertIfNegative val="0"/>
          <c:dLbls>
            <c:numFmt formatCode="0.0&quot;%&quot;"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multiLvlStrRef>
              <c:f>Sheet1!$A$2:$A$3</c:f>
              <c:multiLvlStrCache>
                <c:ptCount val="2"/>
                <c:lvl>
                  <c:pt idx="0">
                    <c:v>±30 ms jitter</c:v>
                  </c:pt>
                  <c:pt idx="1">
                    <c:v>±60 ms jitter</c:v>
                  </c:pt>
                </c:lvl>
              </c:multiLvlStrCache>
            </c:multiLvlStrRef>
          </c:cat>
          <c:val>
            <c:numRef>
              <c:f>Sheet1!$B$2:$B$3</c:f>
              <c:numCache>
                <c:formatCode>General</c:formatCode>
                <c:ptCount val="2"/>
                <c:pt idx="0">
                  <c:v>87.9</c:v>
                </c:pt>
                <c:pt idx="1">
                  <c:v>83.6</c:v>
                </c:pt>
              </c:numCache>
            </c:numRef>
          </c:val>
        </c:ser>
        <c:ser>
          <c:idx val="1"/>
          <c:order val="1"/>
          <c:tx>
            <c:strRef>
              <c:f>Sheet1!$C$1</c:f>
              <c:strCache>
                <c:ptCount val="1"/>
                <c:pt idx="0">
                  <c:v>buffer on</c:v>
                </c:pt>
              </c:strCache>
            </c:strRef>
          </c:tx>
          <c:spPr>
            <a:solidFill>
              <a:srgbClr val="E0782B"/>
            </a:solidFill>
            <a:effectLst/>
          </c:spPr>
          <c:invertIfNegative val="0"/>
          <c:dLbls>
            <c:numFmt formatCode="0.0&quot;%&quot;"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cat>
            <c:multiLvlStrRef>
              <c:f>Sheet1!$A$2:$A$3</c:f>
              <c:multiLvlStrCache>
                <c:ptCount val="2"/>
                <c:lvl>
                  <c:pt idx="0">
                    <c:v>±30 ms jitter</c:v>
                  </c:pt>
                  <c:pt idx="1">
                    <c:v>±60 ms jitter</c:v>
                  </c:pt>
                </c:lvl>
              </c:multiLvlStrCache>
            </c:multiLvlStrRef>
          </c:cat>
          <c:val>
            <c:numRef>
              <c:f>Sheet1!$C$2:$C$3</c:f>
              <c:numCache>
                <c:formatCode>General</c:formatCode>
                <c:ptCount val="2"/>
                <c:pt idx="0">
                  <c:v>0.05</c:v>
                </c:pt>
                <c:pt idx="1">
                  <c:v>0.2</c:v>
                </c:pt>
              </c:numCache>
            </c:numRef>
          </c:val>
        </c:ser>
        <c:dLbls>
          <c:numFmt formatCode="0.0&quot;%&quot;" sourceLinked="0"/>
          <c:txPr>
            <a:bodyPr/>
            <a:lstStyle/>
            <a:p>
              <a:pPr>
                <a:defRPr b="0" i="0" strike="noStrike" sz="1100" u="none">
                  <a:solidFill>
                    <a:srgbClr val="3D4A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D4A5C"/>
                </a:solidFill>
                <a:latin typeface="+mn-lt"/>
              </a:defRPr>
            </a:pPr>
            <a:r>
              <a:rPr sz="1300" b="0" i="0" u="none" strike="noStrike">
                <a:solidFill>
                  <a:srgbClr val="3D4A5C"/>
                </a:solidFill>
                <a:latin typeface="+mn-lt"/>
              </a:rPr>
              <a:t>Quality ladder: video kbps by level</a:t>
            </a:r>
          </a:p>
        </c:rich>
      </c:tx>
      <c:layout/>
      <c:overlay val="0"/>
    </c:title>
    <c:autoTitleDeleted val="0"/>
    <c:plotArea>
      <c:layout/>
      <c:barChart>
        <c:barDir val="col"/>
        <c:grouping val="clustered"/>
        <c:varyColors val="0"/>
        <c:ser>
          <c:idx val="0"/>
          <c:order val="0"/>
          <c:tx>
            <c:strRef>
              <c:f>Sheet1!$B$1</c:f>
              <c:strCache>
                <c:ptCount val="1"/>
                <c:pt idx="0">
                  <c:v>video kbps</c:v>
                </c:pt>
              </c:strCache>
            </c:strRef>
          </c:tx>
          <c:spPr>
            <a:solidFill>
              <a:srgbClr val="14213D"/>
            </a:solidFill>
            <a:effectLst/>
          </c:spPr>
          <c:invertIfNegative val="0"/>
          <c:dLbls>
            <c:numFmt formatCode="#,##0" sourceLinked="0"/>
            <c:txPr>
              <a:bodyPr/>
              <a:lstStyle/>
              <a:p>
                <a:pPr>
                  <a:defRPr b="0" i="0" strike="noStrike" sz="1200" u="none">
                    <a:solidFill>
                      <a:srgbClr val="3D4A5C"/>
                    </a:solidFill>
                    <a:latin typeface="+mn-lt"/>
                  </a:defRPr>
                </a:pPr>
              </a:p>
            </c:txPr>
            <c:showLegendKey val="0"/>
            <c:showVal val="1"/>
            <c:showCatName val="0"/>
            <c:showSerName val="0"/>
            <c:showPercent val="0"/>
            <c:showBubbleSize val="0"/>
            <c:showLeaderLines val="0"/>
          </c:dLbls>
          <c:cat>
            <c:multiLvlStrRef>
              <c:f>Sheet1!$A$2:$A$7</c:f>
              <c:multiLvlStrCache>
                <c:ptCount val="6"/>
                <c:lvl>
                  <c:pt idx="0">
                    <c:v>0 · 640×480</c:v>
                  </c:pt>
                  <c:pt idx="1">
                    <c:v>1 · 640×480</c:v>
                  </c:pt>
                  <c:pt idx="2">
                    <c:v>2 · 480×360</c:v>
                  </c:pt>
                  <c:pt idx="3">
                    <c:v>3 · 320×240 (start)</c:v>
                  </c:pt>
                  <c:pt idx="4">
                    <c:v>4 · 320×240</c:v>
                  </c:pt>
                  <c:pt idx="5">
                    <c:v>5 · 160×120</c:v>
                  </c:pt>
                </c:lvl>
              </c:multiLvlStrCache>
            </c:multiLvlStrRef>
          </c:cat>
          <c:val>
            <c:numRef>
              <c:f>Sheet1!$B$2:$B$7</c:f>
              <c:numCache>
                <c:formatCode>General</c:formatCode>
                <c:ptCount val="6"/>
                <c:pt idx="0">
                  <c:v>1200</c:v>
                </c:pt>
                <c:pt idx="1">
                  <c:v>800</c:v>
                </c:pt>
                <c:pt idx="2">
                  <c:v>500</c:v>
                </c:pt>
                <c:pt idx="3">
                  <c:v>300</c:v>
                </c:pt>
                <c:pt idx="4">
                  <c:v>180</c:v>
                </c:pt>
                <c:pt idx="5">
                  <c:v>100</c:v>
                </c:pt>
              </c:numCache>
            </c:numRef>
          </c:val>
        </c:ser>
        <c:dLbls>
          <c:numFmt formatCode="#,##0" sourceLinked="0"/>
          <c:txPr>
            <a:bodyPr/>
            <a:lstStyle/>
            <a:p>
              <a:pPr>
                <a:defRPr b="0" i="0" strike="noStrike" sz="1200" u="none">
                  <a:solidFill>
                    <a:srgbClr val="3D4A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D4A5C"/>
                </a:solidFill>
                <a:latin typeface="+mn-lt"/>
              </a:defRPr>
            </a:pPr>
            <a:r>
              <a:rPr sz="1300" b="0" i="0" u="none" strike="noStrike">
                <a:solidFill>
                  <a:srgbClr val="3D4A5C"/>
                </a:solidFill>
                <a:latin typeface="+mn-lt"/>
              </a:rPr>
              <a:t>Audio frames concealed (%) by impairment</a:t>
            </a:r>
          </a:p>
        </c:rich>
      </c:tx>
      <c:layout/>
      <c:overlay val="0"/>
    </c:title>
    <c:autoTitleDeleted val="0"/>
    <c:plotArea>
      <c:layout/>
      <c:barChart>
        <c:barDir val="col"/>
        <c:grouping val="clustered"/>
        <c:varyColors val="0"/>
        <c:ser>
          <c:idx val="0"/>
          <c:order val="0"/>
          <c:tx>
            <c:strRef>
              <c:f>Sheet1!$B$1</c:f>
              <c:strCache>
                <c:ptCount val="1"/>
                <c:pt idx="0">
                  <c:v>rate control off</c:v>
                </c:pt>
              </c:strCache>
            </c:strRef>
          </c:tx>
          <c:spPr>
            <a:solidFill>
              <a:srgbClr val="5B6779"/>
            </a:solidFill>
            <a:effectLst/>
          </c:spPr>
          <c:invertIfNegative val="0"/>
          <c:dLbls>
            <c:numFmt formatCode="0" sourceLinked="0"/>
            <c:txPr>
              <a:bodyPr/>
              <a:lstStyle/>
              <a:p>
                <a:pPr>
                  <a:defRPr b="0" i="0" strike="noStrike" sz="1000" u="none">
                    <a:solidFill>
                      <a:srgbClr val="3D4A5C"/>
                    </a:solidFill>
                    <a:latin typeface="+mn-lt"/>
                  </a:defRPr>
                </a:pPr>
              </a:p>
            </c:txPr>
            <c:showLegendKey val="0"/>
            <c:showVal val="1"/>
            <c:showCatName val="0"/>
            <c:showSerName val="0"/>
            <c:showPercent val="0"/>
            <c:showBubbleSize val="0"/>
            <c:showLeaderLines val="0"/>
          </c:dLbls>
          <c:cat>
            <c:multiLvlStrRef>
              <c:f>Sheet1!$A$2:$A$8</c:f>
              <c:multiLvlStrCache>
                <c:ptCount val="7"/>
                <c:lvl>
                  <c:pt idx="0">
                    <c:v>loss 5 %</c:v>
                  </c:pt>
                  <c:pt idx="1">
                    <c:v>loss 20 %</c:v>
                  </c:pt>
                  <c:pt idx="2">
                    <c:v>jitter ±60</c:v>
                  </c:pt>
                  <c:pt idx="3">
                    <c:v>1 Mbit/s</c:v>
                  </c:pt>
                  <c:pt idx="4">
                    <c:v>500 kbit/s</c:v>
                  </c:pt>
                  <c:pt idx="5">
                    <c:v>250 kbit/s</c:v>
                  </c:pt>
                  <c:pt idx="6">
                    <c:v>combo</c:v>
                  </c:pt>
                </c:lvl>
              </c:multiLvlStrCache>
            </c:multiLvlStrRef>
          </c:cat>
          <c:val>
            <c:numRef>
              <c:f>Sheet1!$B$2:$B$8</c:f>
              <c:numCache>
                <c:formatCode>General</c:formatCode>
                <c:ptCount val="7"/>
                <c:pt idx="0">
                  <c:v>0.2</c:v>
                </c:pt>
                <c:pt idx="1">
                  <c:v>3.974146341463415</c:v>
                </c:pt>
                <c:pt idx="2">
                  <c:v>0.2</c:v>
                </c:pt>
                <c:pt idx="3">
                  <c:v>34.144</c:v>
                </c:pt>
                <c:pt idx="4">
                  <c:v>49.021</c:v>
                </c:pt>
                <c:pt idx="5">
                  <c:v>74.52833333333332</c:v>
                </c:pt>
                <c:pt idx="6">
                  <c:v>32.99775</c:v>
                </c:pt>
              </c:numCache>
            </c:numRef>
          </c:val>
        </c:ser>
        <c:ser>
          <c:idx val="1"/>
          <c:order val="1"/>
          <c:tx>
            <c:strRef>
              <c:f>Sheet1!$C$1</c:f>
              <c:strCache>
                <c:ptCount val="1"/>
                <c:pt idx="0">
                  <c:v>rate control on</c:v>
                </c:pt>
              </c:strCache>
            </c:strRef>
          </c:tx>
          <c:spPr>
            <a:solidFill>
              <a:srgbClr val="E0782B"/>
            </a:solidFill>
            <a:effectLst/>
          </c:spPr>
          <c:invertIfNegative val="0"/>
          <c:dLbls>
            <c:numFmt formatCode="0" sourceLinked="0"/>
            <c:txPr>
              <a:bodyPr/>
              <a:lstStyle/>
              <a:p>
                <a:pPr>
                  <a:defRPr b="0" i="0" strike="noStrike" sz="1000" u="none">
                    <a:solidFill>
                      <a:srgbClr val="3D4A5C"/>
                    </a:solidFill>
                    <a:latin typeface="+mn-lt"/>
                  </a:defRPr>
                </a:pPr>
              </a:p>
            </c:txPr>
            <c:showLegendKey val="0"/>
            <c:showVal val="1"/>
            <c:showCatName val="0"/>
            <c:showSerName val="0"/>
            <c:showPercent val="0"/>
            <c:showBubbleSize val="0"/>
            <c:showLeaderLines val="0"/>
          </c:dLbls>
          <c:cat>
            <c:multiLvlStrRef>
              <c:f>Sheet1!$A$2:$A$8</c:f>
              <c:multiLvlStrCache>
                <c:ptCount val="7"/>
                <c:lvl>
                  <c:pt idx="0">
                    <c:v>loss 5 %</c:v>
                  </c:pt>
                  <c:pt idx="1">
                    <c:v>loss 20 %</c:v>
                  </c:pt>
                  <c:pt idx="2">
                    <c:v>jitter ±60</c:v>
                  </c:pt>
                  <c:pt idx="3">
                    <c:v>1 Mbit/s</c:v>
                  </c:pt>
                  <c:pt idx="4">
                    <c:v>500 kbit/s</c:v>
                  </c:pt>
                  <c:pt idx="5">
                    <c:v>250 kbit/s</c:v>
                  </c:pt>
                  <c:pt idx="6">
                    <c:v>combo</c:v>
                  </c:pt>
                </c:lvl>
              </c:multiLvlStrCache>
            </c:multiLvlStrRef>
          </c:cat>
          <c:val>
            <c:numRef>
              <c:f>Sheet1!$C$2:$C$8</c:f>
              <c:numCache>
                <c:formatCode>General</c:formatCode>
                <c:ptCount val="7"/>
                <c:pt idx="0">
                  <c:v>0.4245</c:v>
                </c:pt>
                <c:pt idx="1">
                  <c:v>3.1990000000000003</c:v>
                </c:pt>
                <c:pt idx="2">
                  <c:v>0.0723809523809523</c:v>
                </c:pt>
                <c:pt idx="3">
                  <c:v>2.720875</c:v>
                </c:pt>
                <c:pt idx="4">
                  <c:v>11.716428571428573</c:v>
                </c:pt>
                <c:pt idx="5">
                  <c:v>34.784268292682924</c:v>
                </c:pt>
                <c:pt idx="6">
                  <c:v>0.251</c:v>
                </c:pt>
              </c:numCache>
            </c:numRef>
          </c:val>
        </c:ser>
        <c:dLbls>
          <c:numFmt formatCode="0" sourceLinked="0"/>
          <c:txPr>
            <a:bodyPr/>
            <a:lstStyle/>
            <a:p>
              <a:pPr>
                <a:defRPr b="0" i="0" strike="noStrike" sz="1000" u="none">
                  <a:solidFill>
                    <a:srgbClr val="3D4A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1E5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Sending rate (kbps): network goes clean → 2 → 1 → 0.5 → 1 Mbit/s → clean</a:t>
            </a:r>
          </a:p>
        </c:rich>
      </c:tx>
      <c:layout/>
      <c:overlay val="0"/>
    </c:title>
    <c:autoTitleDeleted val="0"/>
    <c:plotArea>
      <c:layout/>
      <c:lineChart>
        <c:varyColors val="0"/>
        <c:ser>
          <c:idx val="0"/>
          <c:order val="0"/>
          <c:tx>
            <c:strRef>
              <c:f>Sheet1!$B$1</c:f>
              <c:strCache>
                <c:ptCount val="1"/>
                <c:pt idx="0">
                  <c:v>fixed rate</c:v>
                </c:pt>
              </c:strCache>
            </c:strRef>
          </c:tx>
          <c:spPr>
            <a:solidFill>
              <a:srgbClr val="5B6779"/>
            </a:solidFill>
            <a:ln w="25400" cap="flat">
              <a:solidFill>
                <a:srgbClr val="5B6779"/>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5B6779"/>
              </a:solidFill>
              <a:ln w="9525" cap="flat">
                <a:solidFill>
                  <a:srgbClr val="5B6779"/>
                </a:solidFill>
                <a:prstDash val="solid"/>
                <a:round/>
              </a:ln>
              <a:effectLst/>
            </c:spPr>
          </c:marker>
          <c:cat>
            <c:multiLvlStrRef>
              <c:f>Sheet1!$A$2:$A$125</c:f>
              <c:multiLvlStrCache>
                <c:ptCount val="124"/>
                <c:lvl>
                  <c:pt idx="0">
                    <c:v>clean</c:v>
                  </c:pt>
                  <c:pt idx="1">
                    <c:v/>
                  </c:pt>
                  <c:pt idx="2">
                    <c:v/>
                  </c:pt>
                  <c:pt idx="3">
                    <c:v/>
                  </c:pt>
                  <c:pt idx="4">
                    <c:v/>
                  </c:pt>
                  <c:pt idx="5">
                    <c:v/>
                  </c:pt>
                  <c:pt idx="6">
                    <c:v/>
                  </c:pt>
                  <c:pt idx="7">
                    <c:v/>
                  </c:pt>
                  <c:pt idx="8">
                    <c:v/>
                  </c:pt>
                  <c:pt idx="9">
                    <c:v/>
                  </c:pt>
                  <c:pt idx="10">
                    <c:v/>
                  </c:pt>
                  <c:pt idx="11">
                    <c:v/>
                  </c:pt>
                  <c:pt idx="12">
                    <c:v/>
                  </c:pt>
                  <c:pt idx="13">
                    <c:v/>
                  </c:pt>
                  <c:pt idx="14">
                    <c:v>2 Mbit/s</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1 Mbit/s</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500 kbit/s</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1 Mbit/s</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clean</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lvl>
              </c:multiLvlStrCache>
            </c:multiLvlStrRef>
          </c:cat>
          <c:val>
            <c:numRef>
              <c:f>Sheet1!$B$2:$B$125</c:f>
              <c:numCache>
                <c:formatCode>General</c:formatCode>
                <c:ptCount val="124"/>
                <c:pt idx="0">
                  <c:v>1174</c:v>
                </c:pt>
                <c:pt idx="1">
                  <c:v>1178</c:v>
                </c:pt>
                <c:pt idx="2">
                  <c:v>1158</c:v>
                </c:pt>
                <c:pt idx="3">
                  <c:v>1182</c:v>
                </c:pt>
                <c:pt idx="4">
                  <c:v>1229</c:v>
                </c:pt>
                <c:pt idx="5">
                  <c:v>1114</c:v>
                </c:pt>
                <c:pt idx="6">
                  <c:v>1087</c:v>
                </c:pt>
                <c:pt idx="7">
                  <c:v>1105</c:v>
                </c:pt>
                <c:pt idx="8">
                  <c:v>1175</c:v>
                </c:pt>
                <c:pt idx="9">
                  <c:v>1152</c:v>
                </c:pt>
                <c:pt idx="10">
                  <c:v>1105</c:v>
                </c:pt>
                <c:pt idx="11">
                  <c:v>1095</c:v>
                </c:pt>
                <c:pt idx="12">
                  <c:v>1172</c:v>
                </c:pt>
                <c:pt idx="13">
                  <c:v>1167</c:v>
                </c:pt>
                <c:pt idx="14">
                  <c:v>1142</c:v>
                </c:pt>
                <c:pt idx="15">
                  <c:v>1135</c:v>
                </c:pt>
                <c:pt idx="16">
                  <c:v>1150</c:v>
                </c:pt>
                <c:pt idx="17">
                  <c:v>1176</c:v>
                </c:pt>
                <c:pt idx="18">
                  <c:v>1160</c:v>
                </c:pt>
                <c:pt idx="19">
                  <c:v>1133</c:v>
                </c:pt>
                <c:pt idx="20">
                  <c:v>1119</c:v>
                </c:pt>
                <c:pt idx="21">
                  <c:v>1201</c:v>
                </c:pt>
                <c:pt idx="22">
                  <c:v>1147</c:v>
                </c:pt>
                <c:pt idx="23">
                  <c:v>1135</c:v>
                </c:pt>
                <c:pt idx="24">
                  <c:v>1196</c:v>
                </c:pt>
                <c:pt idx="25">
                  <c:v>1172</c:v>
                </c:pt>
                <c:pt idx="26">
                  <c:v>1232</c:v>
                </c:pt>
                <c:pt idx="27">
                  <c:v>1152</c:v>
                </c:pt>
                <c:pt idx="28">
                  <c:v>1178</c:v>
                </c:pt>
                <c:pt idx="29">
                  <c:v>1224</c:v>
                </c:pt>
                <c:pt idx="30">
                  <c:v>1244</c:v>
                </c:pt>
                <c:pt idx="31">
                  <c:v>1210</c:v>
                </c:pt>
                <c:pt idx="32">
                  <c:v>1210</c:v>
                </c:pt>
                <c:pt idx="33">
                  <c:v>1210</c:v>
                </c:pt>
                <c:pt idx="34">
                  <c:v>1210</c:v>
                </c:pt>
                <c:pt idx="35">
                  <c:v>1203</c:v>
                </c:pt>
                <c:pt idx="36">
                  <c:v>1084</c:v>
                </c:pt>
                <c:pt idx="37">
                  <c:v>1183</c:v>
                </c:pt>
                <c:pt idx="38">
                  <c:v>1188</c:v>
                </c:pt>
                <c:pt idx="39">
                  <c:v>1188</c:v>
                </c:pt>
                <c:pt idx="40">
                  <c:v>1200</c:v>
                </c:pt>
                <c:pt idx="41">
                  <c:v>1246</c:v>
                </c:pt>
                <c:pt idx="42">
                  <c:v>1225</c:v>
                </c:pt>
                <c:pt idx="43">
                  <c:v>1215</c:v>
                </c:pt>
                <c:pt idx="44">
                  <c:v>1176</c:v>
                </c:pt>
                <c:pt idx="45">
                  <c:v>1232</c:v>
                </c:pt>
                <c:pt idx="46">
                  <c:v>1222</c:v>
                </c:pt>
                <c:pt idx="47">
                  <c:v>1204</c:v>
                </c:pt>
                <c:pt idx="48">
                  <c:v>1193</c:v>
                </c:pt>
                <c:pt idx="49">
                  <c:v>1212</c:v>
                </c:pt>
                <c:pt idx="50">
                  <c:v>1241</c:v>
                </c:pt>
                <c:pt idx="51">
                  <c:v>1213</c:v>
                </c:pt>
                <c:pt idx="52">
                  <c:v>1162</c:v>
                </c:pt>
                <c:pt idx="53">
                  <c:v>1104</c:v>
                </c:pt>
                <c:pt idx="54">
                  <c:v>1191</c:v>
                </c:pt>
                <c:pt idx="55">
                  <c:v>1226</c:v>
                </c:pt>
                <c:pt idx="56">
                  <c:v>1124</c:v>
                </c:pt>
                <c:pt idx="57">
                  <c:v>1142</c:v>
                </c:pt>
                <c:pt idx="58">
                  <c:v>1196</c:v>
                </c:pt>
                <c:pt idx="59">
                  <c:v>1259</c:v>
                </c:pt>
                <c:pt idx="60">
                  <c:v>1182</c:v>
                </c:pt>
                <c:pt idx="61">
                  <c:v>1167</c:v>
                </c:pt>
                <c:pt idx="62">
                  <c:v>1100</c:v>
                </c:pt>
                <c:pt idx="63">
                  <c:v>1178</c:v>
                </c:pt>
                <c:pt idx="64">
                  <c:v>1172</c:v>
                </c:pt>
                <c:pt idx="65">
                  <c:v>1189</c:v>
                </c:pt>
                <c:pt idx="66">
                  <c:v>1213</c:v>
                </c:pt>
                <c:pt idx="67">
                  <c:v>1213</c:v>
                </c:pt>
                <c:pt idx="68">
                  <c:v>1213</c:v>
                </c:pt>
                <c:pt idx="69">
                  <c:v>1213</c:v>
                </c:pt>
                <c:pt idx="70">
                  <c:v>1217</c:v>
                </c:pt>
                <c:pt idx="71">
                  <c:v>1244</c:v>
                </c:pt>
                <c:pt idx="72">
                  <c:v>1200</c:v>
                </c:pt>
                <c:pt idx="73">
                  <c:v>1200</c:v>
                </c:pt>
                <c:pt idx="74">
                  <c:v>1241</c:v>
                </c:pt>
                <c:pt idx="75">
                  <c:v>1221</c:v>
                </c:pt>
                <c:pt idx="76">
                  <c:v>1191</c:v>
                </c:pt>
                <c:pt idx="77">
                  <c:v>1184</c:v>
                </c:pt>
                <c:pt idx="78">
                  <c:v>1241</c:v>
                </c:pt>
                <c:pt idx="79">
                  <c:v>1229</c:v>
                </c:pt>
                <c:pt idx="80">
                  <c:v>1200</c:v>
                </c:pt>
                <c:pt idx="81">
                  <c:v>1188</c:v>
                </c:pt>
                <c:pt idx="82">
                  <c:v>1240</c:v>
                </c:pt>
                <c:pt idx="83">
                  <c:v>1232</c:v>
                </c:pt>
                <c:pt idx="84">
                  <c:v>1236</c:v>
                </c:pt>
                <c:pt idx="85">
                  <c:v>1171</c:v>
                </c:pt>
                <c:pt idx="86">
                  <c:v>1205</c:v>
                </c:pt>
                <c:pt idx="87">
                  <c:v>1235</c:v>
                </c:pt>
                <c:pt idx="88">
                  <c:v>1268</c:v>
                </c:pt>
                <c:pt idx="89">
                  <c:v>1273</c:v>
                </c:pt>
                <c:pt idx="90">
                  <c:v>1225</c:v>
                </c:pt>
                <c:pt idx="91">
                  <c:v>1157</c:v>
                </c:pt>
                <c:pt idx="92">
                  <c:v>1141</c:v>
                </c:pt>
                <c:pt idx="93">
                  <c:v>1177</c:v>
                </c:pt>
                <c:pt idx="94">
                  <c:v>1183</c:v>
                </c:pt>
                <c:pt idx="95">
                  <c:v>1246</c:v>
                </c:pt>
                <c:pt idx="96">
                  <c:v>1114</c:v>
                </c:pt>
                <c:pt idx="97">
                  <c:v>1141</c:v>
                </c:pt>
                <c:pt idx="98">
                  <c:v>1098</c:v>
                </c:pt>
                <c:pt idx="99">
                  <c:v>1227</c:v>
                </c:pt>
                <c:pt idx="100">
                  <c:v>1166</c:v>
                </c:pt>
                <c:pt idx="101">
                  <c:v>1184</c:v>
                </c:pt>
                <c:pt idx="102">
                  <c:v>1184</c:v>
                </c:pt>
                <c:pt idx="103">
                  <c:v>1184</c:v>
                </c:pt>
                <c:pt idx="104">
                  <c:v>1184</c:v>
                </c:pt>
                <c:pt idx="105">
                  <c:v>1120</c:v>
                </c:pt>
                <c:pt idx="106">
                  <c:v>1166</c:v>
                </c:pt>
                <c:pt idx="107">
                  <c:v>1167</c:v>
                </c:pt>
                <c:pt idx="108">
                  <c:v>1205</c:v>
                </c:pt>
                <c:pt idx="109">
                  <c:v>1146</c:v>
                </c:pt>
                <c:pt idx="110">
                  <c:v>1150</c:v>
                </c:pt>
                <c:pt idx="111">
                  <c:v>1203</c:v>
                </c:pt>
                <c:pt idx="112">
                  <c:v>1217</c:v>
                </c:pt>
                <c:pt idx="113">
                  <c:v>1195</c:v>
                </c:pt>
                <c:pt idx="114">
                  <c:v>1186</c:v>
                </c:pt>
                <c:pt idx="115">
                  <c:v>1201</c:v>
                </c:pt>
                <c:pt idx="116">
                  <c:v>1160</c:v>
                </c:pt>
                <c:pt idx="117">
                  <c:v>1175</c:v>
                </c:pt>
                <c:pt idx="118">
                  <c:v>1188</c:v>
                </c:pt>
                <c:pt idx="119">
                  <c:v>1210</c:v>
                </c:pt>
                <c:pt idx="120">
                  <c:v>1231</c:v>
                </c:pt>
                <c:pt idx="121">
                  <c:v>1218</c:v>
                </c:pt>
                <c:pt idx="122">
                  <c:v>1194</c:v>
                </c:pt>
                <c:pt idx="123">
                  <c:v>1088</c:v>
                </c:pt>
              </c:numCache>
            </c:numRef>
          </c:val>
          <c:smooth val="0"/>
        </c:ser>
        <c:ser>
          <c:idx val="1"/>
          <c:order val="1"/>
          <c:tx>
            <c:strRef>
              <c:f>Sheet1!$C$1</c:f>
              <c:strCache>
                <c:ptCount val="1"/>
                <c:pt idx="0">
                  <c:v>adaptive</c:v>
                </c:pt>
              </c:strCache>
            </c:strRef>
          </c:tx>
          <c:spPr>
            <a:solidFill>
              <a:srgbClr val="E0782B"/>
            </a:solidFill>
            <a:ln w="25400" cap="flat">
              <a:solidFill>
                <a:srgbClr val="E0782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0782B"/>
              </a:solidFill>
              <a:ln w="9525" cap="flat">
                <a:solidFill>
                  <a:srgbClr val="E0782B"/>
                </a:solidFill>
                <a:prstDash val="solid"/>
                <a:round/>
              </a:ln>
              <a:effectLst/>
            </c:spPr>
          </c:marker>
          <c:cat>
            <c:multiLvlStrRef>
              <c:f>Sheet1!$A$2:$A$125</c:f>
              <c:multiLvlStrCache>
                <c:ptCount val="124"/>
                <c:lvl>
                  <c:pt idx="0">
                    <c:v>clean</c:v>
                  </c:pt>
                  <c:pt idx="1">
                    <c:v/>
                  </c:pt>
                  <c:pt idx="2">
                    <c:v/>
                  </c:pt>
                  <c:pt idx="3">
                    <c:v/>
                  </c:pt>
                  <c:pt idx="4">
                    <c:v/>
                  </c:pt>
                  <c:pt idx="5">
                    <c:v/>
                  </c:pt>
                  <c:pt idx="6">
                    <c:v/>
                  </c:pt>
                  <c:pt idx="7">
                    <c:v/>
                  </c:pt>
                  <c:pt idx="8">
                    <c:v/>
                  </c:pt>
                  <c:pt idx="9">
                    <c:v/>
                  </c:pt>
                  <c:pt idx="10">
                    <c:v/>
                  </c:pt>
                  <c:pt idx="11">
                    <c:v/>
                  </c:pt>
                  <c:pt idx="12">
                    <c:v/>
                  </c:pt>
                  <c:pt idx="13">
                    <c:v/>
                  </c:pt>
                  <c:pt idx="14">
                    <c:v>2 Mbit/s</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1 Mbit/s</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500 kbit/s</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1 Mbit/s</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clean</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lvl>
              </c:multiLvlStrCache>
            </c:multiLvlStrRef>
          </c:cat>
          <c:val>
            <c:numRef>
              <c:f>Sheet1!$C$2:$C$125</c:f>
              <c:numCache>
                <c:formatCode>General</c:formatCode>
                <c:ptCount val="124"/>
                <c:pt idx="0">
                  <c:v>284</c:v>
                </c:pt>
                <c:pt idx="1">
                  <c:v>432</c:v>
                </c:pt>
                <c:pt idx="2">
                  <c:v>688</c:v>
                </c:pt>
                <c:pt idx="3">
                  <c:v>995</c:v>
                </c:pt>
                <c:pt idx="4">
                  <c:v>1227</c:v>
                </c:pt>
                <c:pt idx="5">
                  <c:v>1182</c:v>
                </c:pt>
                <c:pt idx="6">
                  <c:v>1135</c:v>
                </c:pt>
                <c:pt idx="7">
                  <c:v>1140</c:v>
                </c:pt>
                <c:pt idx="8">
                  <c:v>1177</c:v>
                </c:pt>
                <c:pt idx="9">
                  <c:v>1242</c:v>
                </c:pt>
                <c:pt idx="10">
                  <c:v>1130</c:v>
                </c:pt>
                <c:pt idx="11">
                  <c:v>1188</c:v>
                </c:pt>
                <c:pt idx="12">
                  <c:v>1183</c:v>
                </c:pt>
                <c:pt idx="13">
                  <c:v>1164</c:v>
                </c:pt>
                <c:pt idx="14">
                  <c:v>1025</c:v>
                </c:pt>
                <c:pt idx="15">
                  <c:v>1050</c:v>
                </c:pt>
                <c:pt idx="16">
                  <c:v>1117</c:v>
                </c:pt>
                <c:pt idx="17">
                  <c:v>1230</c:v>
                </c:pt>
                <c:pt idx="18">
                  <c:v>1216</c:v>
                </c:pt>
                <c:pt idx="19">
                  <c:v>1188</c:v>
                </c:pt>
                <c:pt idx="20">
                  <c:v>1189</c:v>
                </c:pt>
                <c:pt idx="21">
                  <c:v>1263</c:v>
                </c:pt>
                <c:pt idx="22">
                  <c:v>1215</c:v>
                </c:pt>
                <c:pt idx="23">
                  <c:v>1208</c:v>
                </c:pt>
                <c:pt idx="24">
                  <c:v>1126</c:v>
                </c:pt>
                <c:pt idx="25">
                  <c:v>1084</c:v>
                </c:pt>
                <c:pt idx="26">
                  <c:v>1084</c:v>
                </c:pt>
                <c:pt idx="27">
                  <c:v>1084</c:v>
                </c:pt>
                <c:pt idx="28">
                  <c:v>1084</c:v>
                </c:pt>
                <c:pt idx="29">
                  <c:v>1084</c:v>
                </c:pt>
                <c:pt idx="30">
                  <c:v>1122</c:v>
                </c:pt>
                <c:pt idx="31">
                  <c:v>1183</c:v>
                </c:pt>
                <c:pt idx="32">
                  <c:v>1162</c:v>
                </c:pt>
                <c:pt idx="33">
                  <c:v>1222</c:v>
                </c:pt>
                <c:pt idx="34">
                  <c:v>1230</c:v>
                </c:pt>
                <c:pt idx="35">
                  <c:v>1222</c:v>
                </c:pt>
                <c:pt idx="36">
                  <c:v>1202</c:v>
                </c:pt>
                <c:pt idx="37">
                  <c:v>1193</c:v>
                </c:pt>
                <c:pt idx="38">
                  <c:v>1263</c:v>
                </c:pt>
                <c:pt idx="39">
                  <c:v>1206</c:v>
                </c:pt>
                <c:pt idx="40">
                  <c:v>1187</c:v>
                </c:pt>
                <c:pt idx="41">
                  <c:v>882</c:v>
                </c:pt>
                <c:pt idx="42">
                  <c:v>341</c:v>
                </c:pt>
                <c:pt idx="43">
                  <c:v>98</c:v>
                </c:pt>
                <c:pt idx="44">
                  <c:v>99</c:v>
                </c:pt>
                <c:pt idx="45">
                  <c:v>97</c:v>
                </c:pt>
                <c:pt idx="46">
                  <c:v>102</c:v>
                </c:pt>
                <c:pt idx="47">
                  <c:v>104</c:v>
                </c:pt>
                <c:pt idx="48">
                  <c:v>106</c:v>
                </c:pt>
                <c:pt idx="49">
                  <c:v>98</c:v>
                </c:pt>
                <c:pt idx="50">
                  <c:v>101</c:v>
                </c:pt>
                <c:pt idx="51">
                  <c:v>193</c:v>
                </c:pt>
                <c:pt idx="52">
                  <c:v>188</c:v>
                </c:pt>
                <c:pt idx="53">
                  <c:v>198</c:v>
                </c:pt>
                <c:pt idx="54">
                  <c:v>287</c:v>
                </c:pt>
                <c:pt idx="55">
                  <c:v>278</c:v>
                </c:pt>
                <c:pt idx="56">
                  <c:v>299</c:v>
                </c:pt>
                <c:pt idx="57">
                  <c:v>468</c:v>
                </c:pt>
                <c:pt idx="58">
                  <c:v>493</c:v>
                </c:pt>
                <c:pt idx="59">
                  <c:v>560</c:v>
                </c:pt>
                <c:pt idx="60">
                  <c:v>502</c:v>
                </c:pt>
                <c:pt idx="61">
                  <c:v>309</c:v>
                </c:pt>
                <c:pt idx="62">
                  <c:v>309</c:v>
                </c:pt>
                <c:pt idx="63">
                  <c:v>309</c:v>
                </c:pt>
                <c:pt idx="64">
                  <c:v>309</c:v>
                </c:pt>
                <c:pt idx="65">
                  <c:v>119</c:v>
                </c:pt>
                <c:pt idx="66">
                  <c:v>98</c:v>
                </c:pt>
                <c:pt idx="67">
                  <c:v>100</c:v>
                </c:pt>
                <c:pt idx="68">
                  <c:v>108</c:v>
                </c:pt>
                <c:pt idx="69">
                  <c:v>97</c:v>
                </c:pt>
                <c:pt idx="70">
                  <c:v>99</c:v>
                </c:pt>
                <c:pt idx="71">
                  <c:v>103</c:v>
                </c:pt>
                <c:pt idx="72">
                  <c:v>109</c:v>
                </c:pt>
                <c:pt idx="73">
                  <c:v>99</c:v>
                </c:pt>
                <c:pt idx="74">
                  <c:v>186</c:v>
                </c:pt>
                <c:pt idx="75">
                  <c:v>189</c:v>
                </c:pt>
                <c:pt idx="76">
                  <c:v>189</c:v>
                </c:pt>
                <c:pt idx="77">
                  <c:v>279</c:v>
                </c:pt>
                <c:pt idx="78">
                  <c:v>268</c:v>
                </c:pt>
                <c:pt idx="79">
                  <c:v>298</c:v>
                </c:pt>
                <c:pt idx="80">
                  <c:v>461</c:v>
                </c:pt>
                <c:pt idx="81">
                  <c:v>486</c:v>
                </c:pt>
                <c:pt idx="82">
                  <c:v>585</c:v>
                </c:pt>
                <c:pt idx="83">
                  <c:v>203</c:v>
                </c:pt>
                <c:pt idx="84">
                  <c:v>166</c:v>
                </c:pt>
                <c:pt idx="85">
                  <c:v>184</c:v>
                </c:pt>
                <c:pt idx="86">
                  <c:v>272</c:v>
                </c:pt>
                <c:pt idx="87">
                  <c:v>277</c:v>
                </c:pt>
                <c:pt idx="88">
                  <c:v>292</c:v>
                </c:pt>
                <c:pt idx="89">
                  <c:v>447</c:v>
                </c:pt>
                <c:pt idx="90">
                  <c:v>449</c:v>
                </c:pt>
                <c:pt idx="91">
                  <c:v>456</c:v>
                </c:pt>
                <c:pt idx="92">
                  <c:v>688</c:v>
                </c:pt>
                <c:pt idx="93">
                  <c:v>753</c:v>
                </c:pt>
                <c:pt idx="94">
                  <c:v>745</c:v>
                </c:pt>
                <c:pt idx="95">
                  <c:v>979</c:v>
                </c:pt>
                <c:pt idx="96">
                  <c:v>1189</c:v>
                </c:pt>
                <c:pt idx="97">
                  <c:v>1189</c:v>
                </c:pt>
                <c:pt idx="98">
                  <c:v>1189</c:v>
                </c:pt>
                <c:pt idx="99">
                  <c:v>1189</c:v>
                </c:pt>
                <c:pt idx="100">
                  <c:v>843</c:v>
                </c:pt>
                <c:pt idx="101">
                  <c:v>328</c:v>
                </c:pt>
                <c:pt idx="102">
                  <c:v>98</c:v>
                </c:pt>
                <c:pt idx="103">
                  <c:v>96</c:v>
                </c:pt>
                <c:pt idx="104">
                  <c:v>100</c:v>
                </c:pt>
                <c:pt idx="105">
                  <c:v>106</c:v>
                </c:pt>
                <c:pt idx="106">
                  <c:v>99</c:v>
                </c:pt>
                <c:pt idx="107">
                  <c:v>100</c:v>
                </c:pt>
                <c:pt idx="108">
                  <c:v>98</c:v>
                </c:pt>
                <c:pt idx="109">
                  <c:v>100</c:v>
                </c:pt>
                <c:pt idx="110">
                  <c:v>202</c:v>
                </c:pt>
                <c:pt idx="111">
                  <c:v>186</c:v>
                </c:pt>
                <c:pt idx="112">
                  <c:v>185</c:v>
                </c:pt>
                <c:pt idx="113">
                  <c:v>282</c:v>
                </c:pt>
                <c:pt idx="114">
                  <c:v>303</c:v>
                </c:pt>
                <c:pt idx="115">
                  <c:v>292</c:v>
                </c:pt>
                <c:pt idx="116">
                  <c:v>444</c:v>
                </c:pt>
                <c:pt idx="117">
                  <c:v>467</c:v>
                </c:pt>
                <c:pt idx="118">
                  <c:v>464</c:v>
                </c:pt>
                <c:pt idx="119">
                  <c:v>698</c:v>
                </c:pt>
                <c:pt idx="120">
                  <c:v>808</c:v>
                </c:pt>
                <c:pt idx="121">
                  <c:v>666</c:v>
                </c:pt>
                <c:pt idx="122">
                  <c:v>1008</c:v>
                </c:pt>
                <c:pt idx="123">
                  <c:v>1138</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tickLblSkip val="1"/>
      </c:catAx>
      <c:valAx>
        <c:axId val="2094734552"/>
        <c:scaling>
          <c:orientation val="minMax"/>
          <c:max val="1400"/>
        </c:scaling>
        <c:delete val="0"/>
        <c:axPos val="l"/>
        <c:majorGridlines>
          <c:spPr>
            <a:ln w="6350" cap="flat">
              <a:solidFill>
                <a:srgbClr val="E1E5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D4A5C"/>
                </a:solidFill>
                <a:latin typeface="+mn-lt"/>
              </a:defRPr>
            </a:pPr>
            <a:r>
              <a:rPr sz="1200" b="0" i="0" u="none" strike="noStrike">
                <a:solidFill>
                  <a:srgbClr val="3D4A5C"/>
                </a:solidFill>
                <a:latin typeface="+mn-lt"/>
              </a:rPr>
              <a:t>Round-trip time (s): fixed rate reaches 14 s, adaptive stays near zero</a:t>
            </a:r>
          </a:p>
        </c:rich>
      </c:tx>
      <c:layout/>
      <c:overlay val="0"/>
    </c:title>
    <c:autoTitleDeleted val="0"/>
    <c:plotArea>
      <c:layout/>
      <c:lineChart>
        <c:varyColors val="0"/>
        <c:ser>
          <c:idx val="0"/>
          <c:order val="0"/>
          <c:tx>
            <c:strRef>
              <c:f>Sheet1!$B$1</c:f>
              <c:strCache>
                <c:ptCount val="1"/>
                <c:pt idx="0">
                  <c:v>fixed rate</c:v>
                </c:pt>
              </c:strCache>
            </c:strRef>
          </c:tx>
          <c:spPr>
            <a:solidFill>
              <a:srgbClr val="5B6779"/>
            </a:solidFill>
            <a:ln w="25400" cap="flat">
              <a:solidFill>
                <a:srgbClr val="5B6779"/>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5B6779"/>
              </a:solidFill>
              <a:ln w="9525" cap="flat">
                <a:solidFill>
                  <a:srgbClr val="5B6779"/>
                </a:solidFill>
                <a:prstDash val="solid"/>
                <a:round/>
              </a:ln>
              <a:effectLst/>
            </c:spPr>
          </c:marker>
          <c:cat>
            <c:multiLvlStrRef>
              <c:f>Sheet1!$A$2:$A$125</c:f>
              <c:multiLvlStrCache>
                <c:ptCount val="124"/>
                <c:lvl>
                  <c:pt idx="0">
                    <c:v>clean</c:v>
                  </c:pt>
                  <c:pt idx="1">
                    <c:v/>
                  </c:pt>
                  <c:pt idx="2">
                    <c:v/>
                  </c:pt>
                  <c:pt idx="3">
                    <c:v/>
                  </c:pt>
                  <c:pt idx="4">
                    <c:v/>
                  </c:pt>
                  <c:pt idx="5">
                    <c:v/>
                  </c:pt>
                  <c:pt idx="6">
                    <c:v/>
                  </c:pt>
                  <c:pt idx="7">
                    <c:v/>
                  </c:pt>
                  <c:pt idx="8">
                    <c:v/>
                  </c:pt>
                  <c:pt idx="9">
                    <c:v/>
                  </c:pt>
                  <c:pt idx="10">
                    <c:v/>
                  </c:pt>
                  <c:pt idx="11">
                    <c:v/>
                  </c:pt>
                  <c:pt idx="12">
                    <c:v/>
                  </c:pt>
                  <c:pt idx="13">
                    <c:v/>
                  </c:pt>
                  <c:pt idx="14">
                    <c:v>2 Mbit/s</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1 Mbit/s</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500 kbit/s</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1 Mbit/s</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clean</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lvl>
              </c:multiLvlStrCache>
            </c:multiLvlStrRef>
          </c:cat>
          <c:val>
            <c:numRef>
              <c:f>Sheet1!$B$2:$B$125</c:f>
              <c:numCache>
                <c:formatCode>General</c:formatCode>
                <c:ptCount val="124"/>
                <c:pt idx="0">
                  <c:v>0</c:v>
                </c:pt>
                <c:pt idx="1">
                  <c:v>0</c:v>
                </c:pt>
                <c:pt idx="2">
                  <c:v>0</c:v>
                </c:pt>
                <c:pt idx="3">
                  <c:v>0</c:v>
                </c:pt>
                <c:pt idx="4">
                  <c:v>0</c:v>
                </c:pt>
                <c:pt idx="5">
                  <c:v>0</c:v>
                </c:pt>
                <c:pt idx="6">
                  <c:v>0.01</c:v>
                </c:pt>
                <c:pt idx="7">
                  <c:v>0</c:v>
                </c:pt>
                <c:pt idx="8">
                  <c:v>0</c:v>
                </c:pt>
                <c:pt idx="9">
                  <c:v>0</c:v>
                </c:pt>
                <c:pt idx="10">
                  <c:v>0</c:v>
                </c:pt>
                <c:pt idx="11">
                  <c:v>0</c:v>
                </c:pt>
                <c:pt idx="12">
                  <c:v>0</c:v>
                </c:pt>
                <c:pt idx="13">
                  <c:v>0</c:v>
                </c:pt>
                <c:pt idx="14">
                  <c:v>0</c:v>
                </c:pt>
                <c:pt idx="15">
                  <c:v>0</c:v>
                </c:pt>
                <c:pt idx="16">
                  <c:v>0.04</c:v>
                </c:pt>
                <c:pt idx="17">
                  <c:v>0</c:v>
                </c:pt>
                <c:pt idx="18">
                  <c:v>0.03</c:v>
                </c:pt>
                <c:pt idx="19">
                  <c:v>0.03</c:v>
                </c:pt>
                <c:pt idx="20">
                  <c:v>0.04</c:v>
                </c:pt>
                <c:pt idx="21">
                  <c:v>0.03</c:v>
                </c:pt>
                <c:pt idx="22">
                  <c:v>0.03</c:v>
                </c:pt>
                <c:pt idx="23">
                  <c:v>0.02</c:v>
                </c:pt>
                <c:pt idx="24">
                  <c:v>0.02</c:v>
                </c:pt>
                <c:pt idx="25">
                  <c:v>0.03</c:v>
                </c:pt>
                <c:pt idx="26">
                  <c:v>0.03</c:v>
                </c:pt>
                <c:pt idx="27">
                  <c:v>0.03</c:v>
                </c:pt>
                <c:pt idx="28">
                  <c:v>0.02</c:v>
                </c:pt>
                <c:pt idx="29">
                  <c:v>0.02</c:v>
                </c:pt>
                <c:pt idx="30">
                  <c:v>0.05</c:v>
                </c:pt>
                <c:pt idx="31">
                  <c:v>0.05</c:v>
                </c:pt>
                <c:pt idx="32">
                  <c:v>0.05</c:v>
                </c:pt>
                <c:pt idx="33">
                  <c:v>0.05</c:v>
                </c:pt>
                <c:pt idx="34">
                  <c:v>0.05</c:v>
                </c:pt>
                <c:pt idx="35">
                  <c:v>0.05</c:v>
                </c:pt>
                <c:pt idx="36">
                  <c:v>0.05</c:v>
                </c:pt>
                <c:pt idx="37">
                  <c:v>0.05</c:v>
                </c:pt>
                <c:pt idx="38">
                  <c:v>0.05</c:v>
                </c:pt>
                <c:pt idx="39">
                  <c:v>0.47</c:v>
                </c:pt>
                <c:pt idx="40">
                  <c:v>1.1</c:v>
                </c:pt>
                <c:pt idx="41">
                  <c:v>1.1</c:v>
                </c:pt>
                <c:pt idx="42">
                  <c:v>1.72</c:v>
                </c:pt>
                <c:pt idx="43">
                  <c:v>2.34</c:v>
                </c:pt>
                <c:pt idx="44">
                  <c:v>2.67</c:v>
                </c:pt>
                <c:pt idx="45">
                  <c:v>3.3</c:v>
                </c:pt>
                <c:pt idx="46">
                  <c:v>3.3</c:v>
                </c:pt>
                <c:pt idx="47">
                  <c:v>3.92</c:v>
                </c:pt>
                <c:pt idx="48">
                  <c:v>4.55</c:v>
                </c:pt>
                <c:pt idx="49">
                  <c:v>4.9</c:v>
                </c:pt>
                <c:pt idx="50">
                  <c:v>4.9</c:v>
                </c:pt>
                <c:pt idx="51">
                  <c:v>5.54</c:v>
                </c:pt>
                <c:pt idx="52">
                  <c:v>6.21</c:v>
                </c:pt>
                <c:pt idx="53">
                  <c:v>6.79</c:v>
                </c:pt>
                <c:pt idx="54">
                  <c:v>6.79</c:v>
                </c:pt>
                <c:pt idx="55">
                  <c:v>7.07</c:v>
                </c:pt>
                <c:pt idx="56">
                  <c:v>7.73</c:v>
                </c:pt>
                <c:pt idx="57">
                  <c:v>8.37</c:v>
                </c:pt>
                <c:pt idx="58">
                  <c:v>8.37</c:v>
                </c:pt>
                <c:pt idx="59">
                  <c:v>8.37</c:v>
                </c:pt>
                <c:pt idx="60">
                  <c:v>6.32</c:v>
                </c:pt>
                <c:pt idx="61">
                  <c:v>6.32</c:v>
                </c:pt>
                <c:pt idx="62">
                  <c:v>6.32</c:v>
                </c:pt>
                <c:pt idx="63">
                  <c:v>8.05</c:v>
                </c:pt>
                <c:pt idx="64">
                  <c:v>8.05</c:v>
                </c:pt>
                <c:pt idx="65">
                  <c:v>6.26</c:v>
                </c:pt>
                <c:pt idx="66">
                  <c:v>6.26</c:v>
                </c:pt>
                <c:pt idx="67">
                  <c:v>6.26</c:v>
                </c:pt>
                <c:pt idx="68">
                  <c:v>6.26</c:v>
                </c:pt>
                <c:pt idx="69">
                  <c:v>6.26</c:v>
                </c:pt>
                <c:pt idx="70">
                  <c:v>6.26</c:v>
                </c:pt>
                <c:pt idx="71">
                  <c:v>7.83</c:v>
                </c:pt>
                <c:pt idx="72">
                  <c:v>7.83</c:v>
                </c:pt>
                <c:pt idx="73">
                  <c:v>9.29</c:v>
                </c:pt>
                <c:pt idx="74">
                  <c:v>9.29</c:v>
                </c:pt>
                <c:pt idx="75">
                  <c:v>9.29</c:v>
                </c:pt>
                <c:pt idx="76">
                  <c:v>12.64</c:v>
                </c:pt>
                <c:pt idx="77">
                  <c:v>12.64</c:v>
                </c:pt>
                <c:pt idx="78">
                  <c:v>12.64</c:v>
                </c:pt>
                <c:pt idx="79">
                  <c:v>14.32</c:v>
                </c:pt>
                <c:pt idx="80">
                  <c:v>14.32</c:v>
                </c:pt>
                <c:pt idx="81">
                  <c:v>14.32</c:v>
                </c:pt>
                <c:pt idx="82">
                  <c:v>11.07</c:v>
                </c:pt>
                <c:pt idx="83">
                  <c:v>0.59</c:v>
                </c:pt>
                <c:pt idx="84">
                  <c:v>1.25</c:v>
                </c:pt>
                <c:pt idx="85">
                  <c:v>1.25</c:v>
                </c:pt>
                <c:pt idx="86">
                  <c:v>1.94</c:v>
                </c:pt>
                <c:pt idx="87">
                  <c:v>2.28</c:v>
                </c:pt>
                <c:pt idx="88">
                  <c:v>2.9</c:v>
                </c:pt>
                <c:pt idx="89">
                  <c:v>3.5</c:v>
                </c:pt>
                <c:pt idx="90">
                  <c:v>3.5</c:v>
                </c:pt>
                <c:pt idx="91">
                  <c:v>4.16</c:v>
                </c:pt>
                <c:pt idx="92">
                  <c:v>4.5</c:v>
                </c:pt>
                <c:pt idx="93">
                  <c:v>5.15</c:v>
                </c:pt>
                <c:pt idx="94">
                  <c:v>5.15</c:v>
                </c:pt>
                <c:pt idx="95">
                  <c:v>5.85</c:v>
                </c:pt>
                <c:pt idx="96">
                  <c:v>6.2</c:v>
                </c:pt>
                <c:pt idx="97">
                  <c:v>6.93</c:v>
                </c:pt>
                <c:pt idx="98">
                  <c:v>6.93</c:v>
                </c:pt>
                <c:pt idx="99">
                  <c:v>7.59</c:v>
                </c:pt>
                <c:pt idx="100">
                  <c:v>8.15</c:v>
                </c:pt>
                <c:pt idx="101">
                  <c:v>8.15</c:v>
                </c:pt>
                <c:pt idx="102">
                  <c:v>8.15</c:v>
                </c:pt>
                <c:pt idx="103">
                  <c:v>8.15</c:v>
                </c:pt>
                <c:pt idx="104">
                  <c:v>8.15</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numCache>
            </c:numRef>
          </c:val>
          <c:smooth val="0"/>
        </c:ser>
        <c:ser>
          <c:idx val="1"/>
          <c:order val="1"/>
          <c:tx>
            <c:strRef>
              <c:f>Sheet1!$C$1</c:f>
              <c:strCache>
                <c:ptCount val="1"/>
                <c:pt idx="0">
                  <c:v>adaptive</c:v>
                </c:pt>
              </c:strCache>
            </c:strRef>
          </c:tx>
          <c:spPr>
            <a:solidFill>
              <a:srgbClr val="E0782B"/>
            </a:solidFill>
            <a:ln w="25400" cap="flat">
              <a:solidFill>
                <a:srgbClr val="E0782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0782B"/>
              </a:solidFill>
              <a:ln w="9525" cap="flat">
                <a:solidFill>
                  <a:srgbClr val="E0782B"/>
                </a:solidFill>
                <a:prstDash val="solid"/>
                <a:round/>
              </a:ln>
              <a:effectLst/>
            </c:spPr>
          </c:marker>
          <c:cat>
            <c:multiLvlStrRef>
              <c:f>Sheet1!$A$2:$A$125</c:f>
              <c:multiLvlStrCache>
                <c:ptCount val="124"/>
                <c:lvl>
                  <c:pt idx="0">
                    <c:v>clean</c:v>
                  </c:pt>
                  <c:pt idx="1">
                    <c:v/>
                  </c:pt>
                  <c:pt idx="2">
                    <c:v/>
                  </c:pt>
                  <c:pt idx="3">
                    <c:v/>
                  </c:pt>
                  <c:pt idx="4">
                    <c:v/>
                  </c:pt>
                  <c:pt idx="5">
                    <c:v/>
                  </c:pt>
                  <c:pt idx="6">
                    <c:v/>
                  </c:pt>
                  <c:pt idx="7">
                    <c:v/>
                  </c:pt>
                  <c:pt idx="8">
                    <c:v/>
                  </c:pt>
                  <c:pt idx="9">
                    <c:v/>
                  </c:pt>
                  <c:pt idx="10">
                    <c:v/>
                  </c:pt>
                  <c:pt idx="11">
                    <c:v/>
                  </c:pt>
                  <c:pt idx="12">
                    <c:v/>
                  </c:pt>
                  <c:pt idx="13">
                    <c:v/>
                  </c:pt>
                  <c:pt idx="14">
                    <c:v>2 Mbit/s</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1 Mbit/s</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500 kbit/s</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1 Mbit/s</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clean</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lvl>
              </c:multiLvlStrCache>
            </c:multiLvlStrRef>
          </c:cat>
          <c:val>
            <c:numRef>
              <c:f>Sheet1!$C$2:$C$125</c:f>
              <c:numCache>
                <c:formatCode>General</c:formatCode>
                <c:ptCount val="12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0.03</c:v>
                </c:pt>
                <c:pt idx="17">
                  <c:v>0.03</c:v>
                </c:pt>
                <c:pt idx="18">
                  <c:v>0.03</c:v>
                </c:pt>
                <c:pt idx="19">
                  <c:v>0.06</c:v>
                </c:pt>
                <c:pt idx="20">
                  <c:v>0.06</c:v>
                </c:pt>
                <c:pt idx="21">
                  <c:v>0.03</c:v>
                </c:pt>
                <c:pt idx="22">
                  <c:v>0.06</c:v>
                </c:pt>
                <c:pt idx="23">
                  <c:v>0.08</c:v>
                </c:pt>
                <c:pt idx="24">
                  <c:v>0.06</c:v>
                </c:pt>
                <c:pt idx="25">
                  <c:v>0.03</c:v>
                </c:pt>
                <c:pt idx="26">
                  <c:v>0.03</c:v>
                </c:pt>
                <c:pt idx="27">
                  <c:v>0.03</c:v>
                </c:pt>
                <c:pt idx="28">
                  <c:v>0.03</c:v>
                </c:pt>
                <c:pt idx="29">
                  <c:v>0.03</c:v>
                </c:pt>
                <c:pt idx="30">
                  <c:v>0.03</c:v>
                </c:pt>
                <c:pt idx="31">
                  <c:v>0.05</c:v>
                </c:pt>
                <c:pt idx="32">
                  <c:v>0.05</c:v>
                </c:pt>
                <c:pt idx="33">
                  <c:v>0.05</c:v>
                </c:pt>
                <c:pt idx="34">
                  <c:v>0.05</c:v>
                </c:pt>
                <c:pt idx="35">
                  <c:v>0.05</c:v>
                </c:pt>
                <c:pt idx="36">
                  <c:v>0.04</c:v>
                </c:pt>
                <c:pt idx="37">
                  <c:v>0.06</c:v>
                </c:pt>
                <c:pt idx="38">
                  <c:v>0.04</c:v>
                </c:pt>
                <c:pt idx="39">
                  <c:v>0.04</c:v>
                </c:pt>
                <c:pt idx="40">
                  <c:v>0.47</c:v>
                </c:pt>
                <c:pt idx="41">
                  <c:v>0.91</c:v>
                </c:pt>
                <c:pt idx="42">
                  <c:v>1.14</c:v>
                </c:pt>
                <c:pt idx="43">
                  <c:v>0.62</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0.01</c:v>
                </c:pt>
                <c:pt idx="60">
                  <c:v>0.16</c:v>
                </c:pt>
                <c:pt idx="61">
                  <c:v>0.6</c:v>
                </c:pt>
                <c:pt idx="62">
                  <c:v>0.6</c:v>
                </c:pt>
                <c:pt idx="63">
                  <c:v>0.6</c:v>
                </c:pt>
                <c:pt idx="64">
                  <c:v>0.6</c:v>
                </c:pt>
                <c:pt idx="65">
                  <c:v>0.58</c:v>
                </c:pt>
                <c:pt idx="66">
                  <c:v>0.01</c:v>
                </c:pt>
                <c:pt idx="67">
                  <c:v>0.01</c:v>
                </c:pt>
                <c:pt idx="68">
                  <c:v>0.01</c:v>
                </c:pt>
                <c:pt idx="69">
                  <c:v>0.01</c:v>
                </c:pt>
                <c:pt idx="70">
                  <c:v>0.01</c:v>
                </c:pt>
                <c:pt idx="71">
                  <c:v>0</c:v>
                </c:pt>
                <c:pt idx="72">
                  <c:v>0</c:v>
                </c:pt>
                <c:pt idx="73">
                  <c:v>0</c:v>
                </c:pt>
                <c:pt idx="74">
                  <c:v>0.01</c:v>
                </c:pt>
                <c:pt idx="75">
                  <c:v>0</c:v>
                </c:pt>
                <c:pt idx="76">
                  <c:v>0</c:v>
                </c:pt>
                <c:pt idx="77">
                  <c:v>0</c:v>
                </c:pt>
                <c:pt idx="78">
                  <c:v>0.01</c:v>
                </c:pt>
                <c:pt idx="79">
                  <c:v>0.01</c:v>
                </c:pt>
                <c:pt idx="80">
                  <c:v>0.01</c:v>
                </c:pt>
                <c:pt idx="81">
                  <c:v>0.12</c:v>
                </c:pt>
                <c:pt idx="82">
                  <c:v>0.12</c:v>
                </c:pt>
                <c:pt idx="83">
                  <c:v>0</c:v>
                </c:pt>
                <c:pt idx="84">
                  <c:v>0</c:v>
                </c:pt>
                <c:pt idx="85">
                  <c:v>0</c:v>
                </c:pt>
                <c:pt idx="86">
                  <c:v>0</c:v>
                </c:pt>
                <c:pt idx="87">
                  <c:v>0</c:v>
                </c:pt>
                <c:pt idx="88">
                  <c:v>0</c:v>
                </c:pt>
                <c:pt idx="89">
                  <c:v>0</c:v>
                </c:pt>
                <c:pt idx="90">
                  <c:v>0</c:v>
                </c:pt>
                <c:pt idx="91">
                  <c:v>0</c:v>
                </c:pt>
                <c:pt idx="92">
                  <c:v>0</c:v>
                </c:pt>
                <c:pt idx="93">
                  <c:v>0.01</c:v>
                </c:pt>
                <c:pt idx="94">
                  <c:v>0.01</c:v>
                </c:pt>
                <c:pt idx="95">
                  <c:v>0</c:v>
                </c:pt>
                <c:pt idx="96">
                  <c:v>0.18</c:v>
                </c:pt>
                <c:pt idx="97">
                  <c:v>0.18</c:v>
                </c:pt>
                <c:pt idx="98">
                  <c:v>0.18</c:v>
                </c:pt>
                <c:pt idx="99">
                  <c:v>0.18</c:v>
                </c:pt>
                <c:pt idx="100">
                  <c:v>0.62</c:v>
                </c:pt>
                <c:pt idx="101">
                  <c:v>0.93</c:v>
                </c:pt>
                <c:pt idx="102">
                  <c:v>0.49</c:v>
                </c:pt>
                <c:pt idx="103">
                  <c:v>0</c:v>
                </c:pt>
                <c:pt idx="104">
                  <c:v>0.01</c:v>
                </c:pt>
                <c:pt idx="105">
                  <c:v>0.01</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5C"/>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1E5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4A5C"/>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3D4A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Mini-Meet is a 2 to 4 person video calling app we built in C from the socket level up. The server only introduces the peers; audio and video then go directly between them over UDP. It covers Project 16 and, as we will show, all deliverables of Project 11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deliverables from the two briefs. Right: the actual client window. The overlay shows the selected network path, the encryption safety code, RTT, loss, jitter and freezes, measured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Signalling is small and must be reliable, so it uses TCP through our server. Media is large and time critical, so it goes directly between the peers over UDP. The server handles a few hundred bytes per call and cannot see the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is one line of text, so we can even drive the server by hand with telnet. The newcomer learns who is in the room, then both sides exchange network candidates and public keys. There is no offer/answer, so no glare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NAT only lets packets in that match a mapping it created. STUN tells each side its public address. Both then send checks to each other at the same time, so each outgoing packet opens a hole in its own NAT for the other side's packets. Our real test across two networks connected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number gives order and reveals loss; the timestamp is media time, which is what lets the receiver restore the sender's timing. Video frames are split under the MTU so IP never fragments them. Retransmissions use a separate payload type so our loss statistics stay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Packets leave every 20 milliseconds but arrive unevenly. We record how late each packet is relative to its timestamp and schedule playout at the 95th percentile. Without the buffer almost 90 percent of audio arrives too late at 30 ms jitter; with it, 0.1 percent. The cost is about 140 ms of extra delay: the classic smoothness versus latency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is detected from sequence gaps. Video is repaired by retransmission if there is still time, otherwise the frame is skipped and a keyframe requested. Audio uses forward error correction: each packet carries a low-rate copy of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second each receiver reports loss, jitter and RTT in RTCP. Our controller cuts quality fast and raises it slowly, like TCP Reno. It also watches the RTT rising above its baseline, which shows a queue filling before any packet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Diffie-Hellman means only public keys cross the server, so it cannot derive the media keys. Each packet is encrypted and authenticated. To catch a server that swaps keys, users compare the safety code on both screens, like Signal's safety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Linux network namespaces act as two hosts joined by a virtual cable. netem on both ends impairs each direction separately. Every profile is run with our rate controller off and on, and every client writes per-second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rate control, sending 1.2 Mbit/s into a 1 Mbit/s link fills the network queue: RTT climbs past 10 seconds and then packets are dropped. That is bufferbloat. Our controller backs off within seconds and keeps RTT in milliseconds. Only bandwidth caps without rate control ruin the audio; loss and jitter are handled by FEC and the jitter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single call while we change the network every 20 seconds. The adaptive sender cuts within seconds of every drop, probes back up in a sawtooth and returns to full quality about 17 seconds after the network clears. The fixed-rate sender builds a 14 second delay and its video stops until the network is clean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emulator: four people in one room, a real call between two different networks, streaming a recorded file, and 72 unit-test checks on both operating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weaknesses are the textbook ones for this kind of design; each has a known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 real-time stream needs smoothing at the receiver and rate control at the sender, driven by receiver feedback. We built every part ourselves and measured it. Now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429000"/>
            <a:ext cx="6583680"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rgbClr val="7A8599"/>
                </a:solidFill>
              </a:rPr>
              <a:t>Mini-Meet · Computer Networks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949440" cy="1280160"/>
          </a:xfrm>
          <a:prstGeom prst="rect">
            <a:avLst/>
          </a:prstGeom>
          <a:noFill/>
          <a:ln/>
        </p:spPr>
        <p:txBody>
          <a:bodyPr wrap="square" lIns="0" tIns="0" rIns="0" bIns="0" rtlCol="0" anchor="b"/>
          <a:lstStyle/>
          <a:p>
            <a:pPr algn="l" indent="0" marL="0">
              <a:buNone/>
            </a:pPr>
            <a:r>
              <a:rPr lang="en-US" sz="6000" b="1" dirty="0">
                <a:solidFill>
                  <a:schemeClr val="bg1"/>
                </a:solidFill>
              </a:rPr>
              <a:t>Mini-Meet</a:t>
            </a:r>
            <a:endParaRPr lang="en-US" sz="6000" dirty="0"/>
          </a:p>
        </p:txBody>
      </p:sp>
      <p:sp>
        <p:nvSpPr>
          <p:cNvPr id="3" name="Text 0"/>
          <p:cNvSpPr/>
          <p:nvPr>
            <p:ph idx="101" type="body" hasCustomPrompt="1"/>
          </p:nvPr>
        </p:nvSpPr>
        <p:spPr>
          <a:xfrm>
            <a:off x="731520" y="3429000"/>
            <a:ext cx="6583680" cy="1463040"/>
          </a:xfrm>
          <a:prstGeom prst="rect">
            <a:avLst/>
          </a:prstGeom>
          <a:noFill/>
          <a:ln/>
        </p:spPr>
        <p:txBody>
          <a:bodyPr wrap="square" lIns="0" tIns="0" rIns="0" bIns="0" rtlCol="0" anchor="t"/>
          <a:lstStyle/>
          <a:p>
            <a:pPr indent="0" marL="0">
              <a:buNone/>
            </a:pPr>
            <a:r>
              <a:rPr lang="en-US" sz="2000" dirty="0">
                <a:solidFill>
                  <a:schemeClr val="bg2"/>
                </a:solidFill>
              </a:rPr>
              <a:t>Real-time video calls written in C: our own signalling, NAT traversal, RTP media engine, jitter buffer, rate control and end-to-end encryption</a:t>
            </a:r>
            <a:endParaRPr lang="en-US" sz="2000" dirty="0"/>
          </a:p>
        </p:txBody>
      </p:sp>
      <p:sp>
        <p:nvSpPr>
          <p:cNvPr id="4" name="text-1"/>
          <p:cNvSpPr txBox="1"/>
          <p:nvPr/>
        </p:nvSpPr>
        <p:spPr>
          <a:xfrm>
            <a:off x="731520" y="1417320"/>
            <a:ext cx="7315200" cy="365760"/>
          </a:xfrm>
          <a:prstGeom prst="rect">
            <a:avLst/>
          </a:prstGeom>
          <a:noFill/>
          <a:ln/>
        </p:spPr>
        <p:txBody>
          <a:bodyPr wrap="square" lIns="0" tIns="0" rIns="0" bIns="0" rtlCol="0" anchor="t"/>
          <a:lstStyle/>
          <a:p>
            <a:pPr indent="0" marL="0">
              <a:buNone/>
            </a:pPr>
            <a:r>
              <a:rPr lang="en-US" sz="1400" b="1" spc="100" kern="0" dirty="0">
                <a:solidFill>
                  <a:schemeClr val="accent1"/>
                </a:solidFill>
              </a:rPr>
              <a:t>COMPUTER NETWORKS · PROJECT 16 · ALSO COVERS PROJECT 11</a:t>
            </a:r>
            <a:endParaRPr lang="en-US" sz="1400" dirty="0"/>
          </a:p>
        </p:txBody>
      </p:sp>
      <p:sp>
        <p:nvSpPr>
          <p:cNvPr id="5" name="text-2"/>
          <p:cNvSpPr txBox="1"/>
          <p:nvPr/>
        </p:nvSpPr>
        <p:spPr>
          <a:xfrm>
            <a:off x="731520" y="5989320"/>
            <a:ext cx="8229600" cy="320040"/>
          </a:xfrm>
          <a:prstGeom prst="rect">
            <a:avLst/>
          </a:prstGeom>
          <a:noFill/>
          <a:ln/>
        </p:spPr>
        <p:txBody>
          <a:bodyPr wrap="square" lIns="0" tIns="0" rIns="0" bIns="0" rtlCol="0" anchor="t"/>
          <a:lstStyle/>
          <a:p>
            <a:pPr indent="0" marL="0">
              <a:buNone/>
            </a:pPr>
            <a:r>
              <a:rPr lang="en-US" sz="1300" dirty="0">
                <a:solidFill>
                  <a:schemeClr val="accent5"/>
                </a:solidFill>
              </a:rPr>
              <a:t>Windows + Linux · C11 · FFmpeg · UDP sockets · tc netem · github.com/TowVansh/mini-meet</a:t>
            </a:r>
            <a:endParaRPr lang="en-US" sz="1300" dirty="0"/>
          </a:p>
        </p:txBody>
      </p:sp>
      <p:sp>
        <p:nvSpPr>
          <p:cNvPr id="6" name="net-3"/>
          <p:cNvSpPr/>
          <p:nvPr/>
        </p:nvSpPr>
        <p:spPr>
          <a:xfrm flipH="1">
            <a:off x="8275320" y="2331720"/>
            <a:ext cx="1143000" cy="1463040"/>
          </a:xfrm>
          <a:prstGeom prst="line">
            <a:avLst/>
          </a:prstGeom>
          <a:noFill/>
          <a:ln w="25400">
            <a:solidFill>
              <a:srgbClr val="2F5BB5"/>
            </a:solidFill>
            <a:prstDash val="dash"/>
          </a:ln>
        </p:spPr>
      </p:sp>
      <p:sp>
        <p:nvSpPr>
          <p:cNvPr id="7" name="net-4"/>
          <p:cNvSpPr/>
          <p:nvPr/>
        </p:nvSpPr>
        <p:spPr>
          <a:xfrm>
            <a:off x="9875520" y="2331720"/>
            <a:ext cx="1143000" cy="1463040"/>
          </a:xfrm>
          <a:prstGeom prst="line">
            <a:avLst/>
          </a:prstGeom>
          <a:noFill/>
          <a:ln w="25400">
            <a:solidFill>
              <a:srgbClr val="2F5BB5"/>
            </a:solidFill>
            <a:prstDash val="dash"/>
          </a:ln>
        </p:spPr>
      </p:sp>
      <p:sp>
        <p:nvSpPr>
          <p:cNvPr id="8" name="net-5"/>
          <p:cNvSpPr/>
          <p:nvPr/>
        </p:nvSpPr>
        <p:spPr>
          <a:xfrm>
            <a:off x="8046720" y="4206240"/>
            <a:ext cx="3200400" cy="0"/>
          </a:xfrm>
          <a:prstGeom prst="line">
            <a:avLst/>
          </a:prstGeom>
          <a:noFill/>
          <a:ln w="63500">
            <a:solidFill>
              <a:srgbClr val="E0782B"/>
            </a:solidFill>
            <a:prstDash val="solid"/>
          </a:ln>
        </p:spPr>
      </p:sp>
      <p:sp>
        <p:nvSpPr>
          <p:cNvPr id="9" name="node-6"/>
          <p:cNvSpPr/>
          <p:nvPr/>
        </p:nvSpPr>
        <p:spPr>
          <a:xfrm>
            <a:off x="9189720" y="1463040"/>
            <a:ext cx="914400" cy="914400"/>
          </a:xfrm>
          <a:prstGeom prst="ellipse">
            <a:avLst/>
          </a:prstGeom>
          <a:solidFill>
            <a:schemeClr val="accent2"/>
          </a:solidFill>
          <a:ln/>
        </p:spPr>
      </p:sp>
      <p:sp>
        <p:nvSpPr>
          <p:cNvPr id="10" name="node-7"/>
          <p:cNvSpPr/>
          <p:nvPr/>
        </p:nvSpPr>
        <p:spPr>
          <a:xfrm>
            <a:off x="7543800" y="3703320"/>
            <a:ext cx="1005840" cy="1005840"/>
          </a:xfrm>
          <a:prstGeom prst="ellipse">
            <a:avLst/>
          </a:prstGeom>
          <a:solidFill>
            <a:schemeClr val="accent1"/>
          </a:solidFill>
          <a:ln/>
        </p:spPr>
      </p:sp>
      <p:sp>
        <p:nvSpPr>
          <p:cNvPr id="11" name="node-8"/>
          <p:cNvSpPr/>
          <p:nvPr/>
        </p:nvSpPr>
        <p:spPr>
          <a:xfrm>
            <a:off x="10744200" y="3703320"/>
            <a:ext cx="1005840" cy="1005840"/>
          </a:xfrm>
          <a:prstGeom prst="ellipse">
            <a:avLst/>
          </a:prstGeom>
          <a:solidFill>
            <a:schemeClr val="accent1"/>
          </a:solidFill>
          <a:ln/>
        </p:spPr>
      </p:sp>
      <p:sp>
        <p:nvSpPr>
          <p:cNvPr id="12" name="text-9"/>
          <p:cNvSpPr txBox="1"/>
          <p:nvPr/>
        </p:nvSpPr>
        <p:spPr>
          <a:xfrm>
            <a:off x="8961120" y="2423160"/>
            <a:ext cx="1371600" cy="274320"/>
          </a:xfrm>
          <a:prstGeom prst="rect">
            <a:avLst/>
          </a:prstGeom>
          <a:noFill/>
          <a:ln/>
        </p:spPr>
        <p:txBody>
          <a:bodyPr wrap="square" lIns="0" tIns="0" rIns="0" bIns="0" rtlCol="0" anchor="t"/>
          <a:lstStyle/>
          <a:p>
            <a:pPr algn="ctr" indent="0" marL="0">
              <a:buNone/>
            </a:pPr>
            <a:r>
              <a:rPr lang="en-US" sz="1200" dirty="0">
                <a:solidFill>
                  <a:schemeClr val="bg2"/>
                </a:solidFill>
              </a:rPr>
              <a:t>server</a:t>
            </a:r>
            <a:endParaRPr lang="en-US" sz="1200" dirty="0"/>
          </a:p>
        </p:txBody>
      </p:sp>
      <p:sp>
        <p:nvSpPr>
          <p:cNvPr id="13" name="text-10"/>
          <p:cNvSpPr txBox="1"/>
          <p:nvPr/>
        </p:nvSpPr>
        <p:spPr>
          <a:xfrm>
            <a:off x="8321040" y="4297680"/>
            <a:ext cx="2651760" cy="274320"/>
          </a:xfrm>
          <a:prstGeom prst="rect">
            <a:avLst/>
          </a:prstGeom>
          <a:noFill/>
          <a:ln/>
        </p:spPr>
        <p:txBody>
          <a:bodyPr wrap="square" lIns="0" tIns="0" rIns="0" bIns="0" rtlCol="0" anchor="t"/>
          <a:lstStyle/>
          <a:p>
            <a:pPr algn="ctr" indent="0" marL="0">
              <a:buNone/>
            </a:pPr>
            <a:r>
              <a:rPr lang="en-US" sz="1200" dirty="0">
                <a:solidFill>
                  <a:schemeClr val="bg2"/>
                </a:solidFill>
              </a:rPr>
              <a:t>peer-to-peer media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Every deliverable of both briefs is working</a:t>
            </a:r>
            <a:endParaRPr lang="en-US" sz="3200" dirty="0"/>
          </a:p>
        </p:txBody>
      </p:sp>
      <p:sp>
        <p:nvSpPr>
          <p:cNvPr id="3" name="text-11"/>
          <p:cNvSpPr txBox="1"/>
          <p:nvPr/>
        </p:nvSpPr>
        <p:spPr>
          <a:xfrm>
            <a:off x="548640" y="1325880"/>
            <a:ext cx="5212080" cy="365760"/>
          </a:xfrm>
          <a:prstGeom prst="rect">
            <a:avLst/>
          </a:prstGeom>
          <a:noFill/>
          <a:ln/>
        </p:spPr>
        <p:txBody>
          <a:bodyPr wrap="square" lIns="0" tIns="0" rIns="0" bIns="0" rtlCol="0" anchor="t"/>
          <a:lstStyle/>
          <a:p>
            <a:pPr indent="0" marL="0">
              <a:buNone/>
            </a:pPr>
            <a:r>
              <a:rPr lang="en-US" sz="1800" b="1" dirty="0">
                <a:solidFill>
                  <a:schemeClr val="tx1"/>
                </a:solidFill>
              </a:rPr>
              <a:t>Project 16: video conferencing</a:t>
            </a:r>
            <a:endParaRPr lang="en-US" sz="1800" dirty="0"/>
          </a:p>
        </p:txBody>
      </p:sp>
      <p:sp>
        <p:nvSpPr>
          <p:cNvPr id="4" name="list-12"/>
          <p:cNvSpPr txBox="1"/>
          <p:nvPr/>
        </p:nvSpPr>
        <p:spPr>
          <a:xfrm>
            <a:off x="548640" y="1737360"/>
            <a:ext cx="539496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2–4 person audio + video call (VP8 + Opus)</a:t>
            </a:r>
            <a:endParaRPr lang="en-US" sz="1500" dirty="0"/>
          </a:p>
          <a:p>
            <a:pPr marL="203200" indent="-203200">
              <a:spcAft>
                <a:spcPts val="600"/>
              </a:spcAft>
              <a:buSzPct val="100000"/>
              <a:buChar char="•"/>
            </a:pPr>
            <a:r>
              <a:rPr lang="en-US" sz="1500" dirty="0">
                <a:solidFill>
                  <a:schemeClr val="tx2"/>
                </a:solidFill>
              </a:rPr>
              <a:t>Custom signalling server and documented protocol</a:t>
            </a:r>
            <a:endParaRPr lang="en-US" sz="1500" dirty="0"/>
          </a:p>
          <a:p>
            <a:pPr marL="203200" indent="-203200">
              <a:spcAft>
                <a:spcPts val="600"/>
              </a:spcAft>
              <a:buSzPct val="100000"/>
              <a:buChar char="•"/>
            </a:pPr>
            <a:r>
              <a:rPr lang="en-US" sz="1500" dirty="0">
                <a:solidFill>
                  <a:schemeClr val="tx2"/>
                </a:solidFill>
              </a:rPr>
              <a:t>STUN NAT traversal across separate networks</a:t>
            </a:r>
            <a:endParaRPr lang="en-US" sz="1500" dirty="0"/>
          </a:p>
          <a:p>
            <a:pPr marL="203200" indent="-203200">
              <a:spcAft>
                <a:spcPts val="600"/>
              </a:spcAft>
              <a:buSzPct val="100000"/>
              <a:buChar char="•"/>
            </a:pPr>
            <a:r>
              <a:rPr lang="en-US" sz="1500" dirty="0">
                <a:solidFill>
                  <a:schemeClr val="tx2"/>
                </a:solidFill>
              </a:rPr>
              <a:t>Quality measured under loss, jitter, bandwidth caps</a:t>
            </a:r>
            <a:endParaRPr lang="en-US" sz="1500" dirty="0"/>
          </a:p>
          <a:p>
            <a:pPr marL="203200" indent="-203200">
              <a:spcAft>
                <a:spcPts val="600"/>
              </a:spcAft>
              <a:buSzPct val="100000"/>
              <a:buChar char="•"/>
            </a:pPr>
            <a:r>
              <a:rPr lang="en-US" sz="1500" dirty="0">
                <a:solidFill>
                  <a:schemeClr val="tx2"/>
                </a:solidFill>
              </a:rPr>
              <a:t>Architecture: media path vs signalling path</a:t>
            </a:r>
            <a:endParaRPr lang="en-US" sz="1500" dirty="0"/>
          </a:p>
        </p:txBody>
      </p:sp>
      <p:sp>
        <p:nvSpPr>
          <p:cNvPr id="5" name="text-13"/>
          <p:cNvSpPr txBox="1"/>
          <p:nvPr/>
        </p:nvSpPr>
        <p:spPr>
          <a:xfrm>
            <a:off x="548640" y="3703320"/>
            <a:ext cx="5212080" cy="365760"/>
          </a:xfrm>
          <a:prstGeom prst="rect">
            <a:avLst/>
          </a:prstGeom>
          <a:noFill/>
          <a:ln/>
        </p:spPr>
        <p:txBody>
          <a:bodyPr wrap="square" lIns="0" tIns="0" rIns="0" bIns="0" rtlCol="0" anchor="t"/>
          <a:lstStyle/>
          <a:p>
            <a:pPr indent="0" marL="0">
              <a:buNone/>
            </a:pPr>
            <a:r>
              <a:rPr lang="en-US" sz="1800" b="1" dirty="0">
                <a:solidFill>
                  <a:schemeClr val="tx1"/>
                </a:solidFill>
              </a:rPr>
              <a:t>Project 11: adaptive streaming</a:t>
            </a:r>
            <a:endParaRPr lang="en-US" sz="1800" dirty="0"/>
          </a:p>
        </p:txBody>
      </p:sp>
      <p:sp>
        <p:nvSpPr>
          <p:cNvPr id="6" name="list-14"/>
          <p:cNvSpPr txBox="1"/>
          <p:nvPr/>
        </p:nvSpPr>
        <p:spPr>
          <a:xfrm>
            <a:off x="548640" y="4114800"/>
            <a:ext cx="5394960" cy="15544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Live or recorded media over UDP</a:t>
            </a:r>
            <a:endParaRPr lang="en-US" sz="1500" dirty="0"/>
          </a:p>
          <a:p>
            <a:pPr marL="203200" indent="-203200">
              <a:spcAft>
                <a:spcPts val="600"/>
              </a:spcAft>
              <a:buSzPct val="100000"/>
              <a:buChar char="•"/>
            </a:pPr>
            <a:r>
              <a:rPr lang="en-US" sz="1500" dirty="0">
                <a:solidFill>
                  <a:schemeClr val="tx2"/>
                </a:solidFill>
              </a:rPr>
              <a:t>Own framing layer: sequence numbers + timestamps</a:t>
            </a:r>
            <a:endParaRPr lang="en-US" sz="1500" dirty="0"/>
          </a:p>
          <a:p>
            <a:pPr marL="203200" indent="-203200">
              <a:spcAft>
                <a:spcPts val="600"/>
              </a:spcAft>
              <a:buSzPct val="100000"/>
              <a:buChar char="•"/>
            </a:pPr>
            <a:r>
              <a:rPr lang="en-US" sz="1500" dirty="0">
                <a:solidFill>
                  <a:schemeClr val="tx2"/>
                </a:solidFill>
              </a:rPr>
              <a:t>Jitter buffer with measured playout smoothness</a:t>
            </a:r>
            <a:endParaRPr lang="en-US" sz="1500" dirty="0"/>
          </a:p>
          <a:p>
            <a:pPr marL="203200" indent="-203200">
              <a:spcAft>
                <a:spcPts val="600"/>
              </a:spcAft>
              <a:buSzPct val="100000"/>
              <a:buChar char="•"/>
            </a:pPr>
            <a:r>
              <a:rPr lang="en-US" sz="1500" dirty="0">
                <a:solidFill>
                  <a:schemeClr val="tx2"/>
                </a:solidFill>
              </a:rPr>
              <a:t>Bitrate adaptation across changing conditions</a:t>
            </a:r>
            <a:endParaRPr lang="en-US" sz="1500" dirty="0"/>
          </a:p>
        </p:txBody>
      </p:sp>
      <p:sp>
        <p:nvSpPr>
          <p:cNvPr id="7" name="text-15"/>
          <p:cNvSpPr txBox="1"/>
          <p:nvPr/>
        </p:nvSpPr>
        <p:spPr>
          <a:xfrm>
            <a:off x="548640" y="5806440"/>
            <a:ext cx="5669280" cy="320040"/>
          </a:xfrm>
          <a:prstGeom prst="rect">
            <a:avLst/>
          </a:prstGeom>
          <a:noFill/>
          <a:ln/>
        </p:spPr>
        <p:txBody>
          <a:bodyPr wrap="square" lIns="0" tIns="0" rIns="0" bIns="0" rtlCol="0" anchor="t"/>
          <a:lstStyle/>
          <a:p>
            <a:pPr indent="0" marL="0">
              <a:buNone/>
            </a:pPr>
            <a:r>
              <a:rPr lang="en-US" sz="1400" i="1" dirty="0">
                <a:solidFill>
                  <a:schemeClr val="accent1"/>
                </a:solidFill>
              </a:rPr>
              <a:t>Beyond the briefs: end-to-end encryption · Windows + Linux · 72 unit-test checks</a:t>
            </a:r>
            <a:endParaRPr lang="en-US" sz="1400" dirty="0"/>
          </a:p>
        </p:txBody>
      </p:sp>
      <p:pic>
        <p:nvPicPr>
          <p:cNvPr id="8" name="screenshot-16" descr="/mnt/e/MiniMeet/docs/img/app-window.png">    </p:cNvPr>
          <p:cNvPicPr>
            <a:picLocks noChangeAspect="1"/>
          </p:cNvPicPr>
          <p:nvPr/>
        </p:nvPicPr>
        <p:blipFill>
          <a:blip r:embed="rId1"/>
          <a:stretch>
            <a:fillRect/>
          </a:stretch>
        </p:blipFill>
        <p:spPr>
          <a:xfrm>
            <a:off x="6263640" y="1463040"/>
            <a:ext cx="5349240" cy="3145536"/>
          </a:xfrm>
          <a:prstGeom prst="rect">
            <a:avLst/>
          </a:prstGeom>
        </p:spPr>
      </p:pic>
      <p:sp>
        <p:nvSpPr>
          <p:cNvPr id="9" name="text-17"/>
          <p:cNvSpPr txBox="1"/>
          <p:nvPr/>
        </p:nvSpPr>
        <p:spPr>
          <a:xfrm>
            <a:off x="6263640" y="4709160"/>
            <a:ext cx="5349240" cy="548640"/>
          </a:xfrm>
          <a:prstGeom prst="rect">
            <a:avLst/>
          </a:prstGeom>
          <a:noFill/>
          <a:ln/>
        </p:spPr>
        <p:txBody>
          <a:bodyPr wrap="square" lIns="0" tIns="0" rIns="0" bIns="0" rtlCol="0" anchor="t"/>
          <a:lstStyle/>
          <a:p>
            <a:pPr indent="0" marL="0">
              <a:buNone/>
            </a:pPr>
            <a:r>
              <a:rPr lang="en-US" sz="1200" dirty="0">
                <a:solidFill>
                  <a:schemeClr val="accent5"/>
                </a:solidFill>
              </a:rPr>
              <a:t>Client window: own view (left), remote peer with live stats (path, safety code, RTT, loss, jitter, freezes)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Two paths: signalling via the server, media peer-to-peer</a:t>
            </a:r>
            <a:endParaRPr lang="en-US" sz="3200" dirty="0"/>
          </a:p>
        </p:txBody>
      </p:sp>
      <p:sp>
        <p:nvSpPr>
          <p:cNvPr id="3" name="server-18"/>
          <p:cNvSpPr/>
          <p:nvPr/>
        </p:nvSpPr>
        <p:spPr>
          <a:xfrm>
            <a:off x="4617720" y="1325880"/>
            <a:ext cx="2926080" cy="868680"/>
          </a:xfrm>
          <a:prstGeom prst="roundRect">
            <a:avLst>
              <a:gd name="adj" fmla="val 12632"/>
            </a:avLst>
          </a:prstGeom>
          <a:solidFill>
            <a:schemeClr val="tx1"/>
          </a:solidFill>
          <a:ln/>
        </p:spPr>
      </p:sp>
      <p:sp>
        <p:nvSpPr>
          <p:cNvPr id="4" name="text-19"/>
          <p:cNvSpPr txBox="1"/>
          <p:nvPr/>
        </p:nvSpPr>
        <p:spPr>
          <a:xfrm>
            <a:off x="4617720" y="1325880"/>
            <a:ext cx="2926080" cy="868680"/>
          </a:xfrm>
          <a:prstGeom prst="rect">
            <a:avLst/>
          </a:prstGeom>
          <a:noFill/>
          <a:ln/>
        </p:spPr>
        <p:txBody>
          <a:bodyPr wrap="square" lIns="0" tIns="0" rIns="0" bIns="0" rtlCol="0" anchor="ctr"/>
          <a:lstStyle/>
          <a:p>
            <a:pPr algn="ctr" indent="0" marL="0">
              <a:buNone/>
            </a:pPr>
            <a:r>
              <a:rPr lang="en-US" sz="1800" b="1" dirty="0">
                <a:solidFill>
                  <a:schemeClr val="bg1"/>
                </a:solidFill>
              </a:rPr>
              <a:t>mm-server</a:t>
            </a:r>
            <a:endParaRPr lang="en-US" sz="1600" dirty="0"/>
          </a:p>
          <a:p>
            <a:pPr algn="ctr" indent="0" marL="0">
              <a:buNone/>
            </a:pPr>
            <a:r>
              <a:rPr lang="en-US" sz="1300" dirty="0">
                <a:solidFill>
                  <a:schemeClr val="bg2"/>
                </a:solidFill>
              </a:rPr>
              <a:t>TCP 9000 · rooms · relay</a:t>
            </a:r>
            <a:endParaRPr lang="en-US" sz="1600" dirty="0"/>
          </a:p>
        </p:txBody>
      </p:sp>
      <p:sp>
        <p:nvSpPr>
          <p:cNvPr id="5" name="peer-20"/>
          <p:cNvSpPr/>
          <p:nvPr/>
        </p:nvSpPr>
        <p:spPr>
          <a:xfrm>
            <a:off x="548640" y="2834640"/>
            <a:ext cx="2880360" cy="1051560"/>
          </a:xfrm>
          <a:prstGeom prst="roundRect">
            <a:avLst>
              <a:gd name="adj" fmla="val 10435"/>
            </a:avLst>
          </a:prstGeom>
          <a:solidFill>
            <a:schemeClr val="bg1"/>
          </a:solidFill>
          <a:ln w="19050">
            <a:solidFill>
              <a:srgbClr val="14213D"/>
            </a:solidFill>
            <a:prstDash val="solid"/>
          </a:ln>
        </p:spPr>
      </p:sp>
      <p:sp>
        <p:nvSpPr>
          <p:cNvPr id="6" name="text-21"/>
          <p:cNvSpPr txBox="1"/>
          <p:nvPr/>
        </p:nvSpPr>
        <p:spPr>
          <a:xfrm>
            <a:off x="685800" y="2834640"/>
            <a:ext cx="2606040" cy="1051560"/>
          </a:xfrm>
          <a:prstGeom prst="rect">
            <a:avLst/>
          </a:prstGeom>
          <a:noFill/>
          <a:ln/>
        </p:spPr>
        <p:txBody>
          <a:bodyPr wrap="square" lIns="0" tIns="0" rIns="0" bIns="0" rtlCol="0" anchor="ctr"/>
          <a:lstStyle/>
          <a:p>
            <a:pPr algn="ctr" indent="0" marL="0">
              <a:buNone/>
            </a:pPr>
            <a:r>
              <a:rPr lang="en-US" sz="1800" b="1" dirty="0">
                <a:solidFill>
                  <a:schemeClr val="tx1"/>
                </a:solidFill>
              </a:rPr>
              <a:t>mm (Alice)</a:t>
            </a:r>
            <a:endParaRPr lang="en-US" sz="1600" dirty="0"/>
          </a:p>
          <a:p>
            <a:pPr algn="ctr" indent="0" marL="0">
              <a:buNone/>
            </a:pPr>
            <a:r>
              <a:rPr lang="en-US" sz="1300" dirty="0">
                <a:solidFill>
                  <a:schemeClr val="tx2"/>
                </a:solidFill>
              </a:rPr>
              <a:t>capture · encode · decode · play</a:t>
            </a:r>
            <a:endParaRPr lang="en-US" sz="1600" dirty="0"/>
          </a:p>
        </p:txBody>
      </p:sp>
      <p:sp>
        <p:nvSpPr>
          <p:cNvPr id="7" name="peer-22"/>
          <p:cNvSpPr/>
          <p:nvPr/>
        </p:nvSpPr>
        <p:spPr>
          <a:xfrm>
            <a:off x="8732520" y="2834640"/>
            <a:ext cx="2880360" cy="1051560"/>
          </a:xfrm>
          <a:prstGeom prst="roundRect">
            <a:avLst>
              <a:gd name="adj" fmla="val 10435"/>
            </a:avLst>
          </a:prstGeom>
          <a:solidFill>
            <a:schemeClr val="bg1"/>
          </a:solidFill>
          <a:ln w="19050">
            <a:solidFill>
              <a:srgbClr val="14213D"/>
            </a:solidFill>
            <a:prstDash val="solid"/>
          </a:ln>
        </p:spPr>
      </p:sp>
      <p:sp>
        <p:nvSpPr>
          <p:cNvPr id="8" name="text-23"/>
          <p:cNvSpPr txBox="1"/>
          <p:nvPr/>
        </p:nvSpPr>
        <p:spPr>
          <a:xfrm>
            <a:off x="8869680" y="2834640"/>
            <a:ext cx="2606040" cy="1051560"/>
          </a:xfrm>
          <a:prstGeom prst="rect">
            <a:avLst/>
          </a:prstGeom>
          <a:noFill/>
          <a:ln/>
        </p:spPr>
        <p:txBody>
          <a:bodyPr wrap="square" lIns="0" tIns="0" rIns="0" bIns="0" rtlCol="0" anchor="ctr"/>
          <a:lstStyle/>
          <a:p>
            <a:pPr algn="ctr" indent="0" marL="0">
              <a:buNone/>
            </a:pPr>
            <a:r>
              <a:rPr lang="en-US" sz="1800" b="1" dirty="0">
                <a:solidFill>
                  <a:schemeClr val="tx1"/>
                </a:solidFill>
              </a:rPr>
              <a:t>mm (Bob)</a:t>
            </a:r>
            <a:endParaRPr lang="en-US" sz="1600" dirty="0"/>
          </a:p>
          <a:p>
            <a:pPr algn="ctr" indent="0" marL="0">
              <a:buNone/>
            </a:pPr>
            <a:r>
              <a:rPr lang="en-US" sz="1300" dirty="0">
                <a:solidFill>
                  <a:schemeClr val="tx2"/>
                </a:solidFill>
              </a:rPr>
              <a:t>capture · encode · decode · play</a:t>
            </a:r>
            <a:endParaRPr lang="en-US" sz="1600" dirty="0"/>
          </a:p>
        </p:txBody>
      </p:sp>
      <p:sp>
        <p:nvSpPr>
          <p:cNvPr id="9" name="tcp-24"/>
          <p:cNvSpPr/>
          <p:nvPr/>
        </p:nvSpPr>
        <p:spPr>
          <a:xfrm flipV="1">
            <a:off x="2011680" y="1965960"/>
            <a:ext cx="2606040" cy="868680"/>
          </a:xfrm>
          <a:prstGeom prst="line">
            <a:avLst/>
          </a:prstGeom>
          <a:noFill/>
          <a:ln w="25400">
            <a:solidFill>
              <a:srgbClr val="2F5BB5"/>
            </a:solidFill>
            <a:prstDash val="dash"/>
            <a:headEnd type="triangle"/>
            <a:tailEnd type="triangle"/>
          </a:ln>
        </p:spPr>
      </p:sp>
      <p:sp>
        <p:nvSpPr>
          <p:cNvPr id="10" name="tcp-25"/>
          <p:cNvSpPr/>
          <p:nvPr/>
        </p:nvSpPr>
        <p:spPr>
          <a:xfrm>
            <a:off x="7543800" y="1965960"/>
            <a:ext cx="2606040" cy="868680"/>
          </a:xfrm>
          <a:prstGeom prst="line">
            <a:avLst/>
          </a:prstGeom>
          <a:noFill/>
          <a:ln w="25400">
            <a:solidFill>
              <a:srgbClr val="2F5BB5"/>
            </a:solidFill>
            <a:prstDash val="dash"/>
            <a:headEnd type="triangle"/>
            <a:tailEnd type="triangle"/>
          </a:ln>
        </p:spPr>
      </p:sp>
      <p:sp>
        <p:nvSpPr>
          <p:cNvPr id="11" name="udp-26"/>
          <p:cNvSpPr/>
          <p:nvPr/>
        </p:nvSpPr>
        <p:spPr>
          <a:xfrm>
            <a:off x="3520440" y="3364992"/>
            <a:ext cx="5120640" cy="0"/>
          </a:xfrm>
          <a:prstGeom prst="line">
            <a:avLst/>
          </a:prstGeom>
          <a:noFill/>
          <a:ln w="76200">
            <a:solidFill>
              <a:srgbClr val="E0782B"/>
            </a:solidFill>
            <a:prstDash val="solid"/>
            <a:headEnd type="triangle"/>
            <a:tailEnd type="triangle"/>
          </a:ln>
        </p:spPr>
      </p:sp>
      <p:sp>
        <p:nvSpPr>
          <p:cNvPr id="12" name="text-27"/>
          <p:cNvSpPr txBox="1"/>
          <p:nvPr/>
        </p:nvSpPr>
        <p:spPr>
          <a:xfrm>
            <a:off x="3749040" y="2926080"/>
            <a:ext cx="4663440" cy="320040"/>
          </a:xfrm>
          <a:prstGeom prst="rect">
            <a:avLst/>
          </a:prstGeom>
          <a:noFill/>
          <a:ln/>
        </p:spPr>
        <p:txBody>
          <a:bodyPr wrap="square" lIns="0" tIns="0" rIns="0" bIns="0" rtlCol="0" anchor="t"/>
          <a:lstStyle/>
          <a:p>
            <a:pPr algn="ctr" indent="0" marL="0">
              <a:buNone/>
            </a:pPr>
            <a:r>
              <a:rPr lang="en-US" sz="1400" b="1" dirty="0">
                <a:solidFill>
                  <a:schemeClr val="accent1"/>
                </a:solidFill>
              </a:rPr>
              <a:t>RTP / RTCP / STUN over UDP · encrypted</a:t>
            </a:r>
            <a:endParaRPr lang="en-US" sz="1400" dirty="0"/>
          </a:p>
        </p:txBody>
      </p:sp>
      <p:sp>
        <p:nvSpPr>
          <p:cNvPr id="13" name="text-28"/>
          <p:cNvSpPr txBox="1"/>
          <p:nvPr/>
        </p:nvSpPr>
        <p:spPr>
          <a:xfrm>
            <a:off x="1234440" y="1874520"/>
            <a:ext cx="2377440" cy="320040"/>
          </a:xfrm>
          <a:prstGeom prst="rect">
            <a:avLst/>
          </a:prstGeom>
          <a:noFill/>
          <a:ln/>
        </p:spPr>
        <p:txBody>
          <a:bodyPr wrap="square" lIns="0" tIns="0" rIns="0" bIns="0" rtlCol="0" anchor="t"/>
          <a:lstStyle/>
          <a:p>
            <a:pPr indent="0" marL="0">
              <a:buNone/>
            </a:pPr>
            <a:r>
              <a:rPr lang="en-US" sz="1300" dirty="0">
                <a:solidFill>
                  <a:schemeClr val="accent2"/>
                </a:solidFill>
              </a:rPr>
              <a:t>JOIN · CAND · KEY (TCP)</a:t>
            </a:r>
            <a:endParaRPr lang="en-US" sz="1300" dirty="0"/>
          </a:p>
        </p:txBody>
      </p:sp>
      <p:sp>
        <p:nvSpPr>
          <p:cNvPr id="14" name="card-29"/>
          <p:cNvSpPr/>
          <p:nvPr/>
        </p:nvSpPr>
        <p:spPr>
          <a:xfrm>
            <a:off x="548640" y="4434840"/>
            <a:ext cx="3520440" cy="1600200"/>
          </a:xfrm>
          <a:prstGeom prst="roundRect">
            <a:avLst>
              <a:gd name="adj" fmla="val 6857"/>
            </a:avLst>
          </a:prstGeom>
          <a:solidFill>
            <a:schemeClr val="bg2"/>
          </a:solidFill>
          <a:ln/>
        </p:spPr>
      </p:sp>
      <p:sp>
        <p:nvSpPr>
          <p:cNvPr id="15" name="text-30"/>
          <p:cNvSpPr txBox="1"/>
          <p:nvPr/>
        </p:nvSpPr>
        <p:spPr>
          <a:xfrm>
            <a:off x="777240" y="4572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Signalling</a:t>
            </a:r>
            <a:endParaRPr lang="en-US" sz="1700" dirty="0"/>
          </a:p>
        </p:txBody>
      </p:sp>
      <p:sp>
        <p:nvSpPr>
          <p:cNvPr id="16" name="text-31"/>
          <p:cNvSpPr txBox="1"/>
          <p:nvPr/>
        </p:nvSpPr>
        <p:spPr>
          <a:xfrm>
            <a:off x="777240" y="4956048"/>
            <a:ext cx="3108960" cy="1005840"/>
          </a:xfrm>
          <a:prstGeom prst="rect">
            <a:avLst/>
          </a:prstGeom>
          <a:noFill/>
          <a:ln/>
        </p:spPr>
        <p:txBody>
          <a:bodyPr wrap="square" lIns="0" tIns="0" rIns="0" bIns="0" rtlCol="0" anchor="t"/>
          <a:lstStyle/>
          <a:p>
            <a:pPr indent="0" marL="0">
              <a:buNone/>
            </a:pPr>
            <a:r>
              <a:rPr lang="en-US" sz="1400" dirty="0">
                <a:solidFill>
                  <a:schemeClr val="tx2"/>
                </a:solidFill>
              </a:rPr>
              <a:t>TCP, newline-delimited text, a few hundred bytes per call. Every message must arrive in order.</a:t>
            </a:r>
            <a:endParaRPr lang="en-US" sz="1400" dirty="0"/>
          </a:p>
        </p:txBody>
      </p:sp>
      <p:sp>
        <p:nvSpPr>
          <p:cNvPr id="17" name="card-32"/>
          <p:cNvSpPr/>
          <p:nvPr/>
        </p:nvSpPr>
        <p:spPr>
          <a:xfrm>
            <a:off x="4297680" y="4434840"/>
            <a:ext cx="3520440" cy="1600200"/>
          </a:xfrm>
          <a:prstGeom prst="roundRect">
            <a:avLst>
              <a:gd name="adj" fmla="val 6857"/>
            </a:avLst>
          </a:prstGeom>
          <a:solidFill>
            <a:schemeClr val="bg2"/>
          </a:solidFill>
          <a:ln/>
        </p:spPr>
      </p:sp>
      <p:sp>
        <p:nvSpPr>
          <p:cNvPr id="18" name="text-33"/>
          <p:cNvSpPr txBox="1"/>
          <p:nvPr/>
        </p:nvSpPr>
        <p:spPr>
          <a:xfrm>
            <a:off x="4526280" y="4572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Media</a:t>
            </a:r>
            <a:endParaRPr lang="en-US" sz="1700" dirty="0"/>
          </a:p>
        </p:txBody>
      </p:sp>
      <p:sp>
        <p:nvSpPr>
          <p:cNvPr id="19" name="text-34"/>
          <p:cNvSpPr txBox="1"/>
          <p:nvPr/>
        </p:nvSpPr>
        <p:spPr>
          <a:xfrm>
            <a:off x="4526280" y="4956048"/>
            <a:ext cx="3108960" cy="1005840"/>
          </a:xfrm>
          <a:prstGeom prst="rect">
            <a:avLst/>
          </a:prstGeom>
          <a:noFill/>
          <a:ln/>
        </p:spPr>
        <p:txBody>
          <a:bodyPr wrap="square" lIns="0" tIns="0" rIns="0" bIns="0" rtlCol="0" anchor="t"/>
          <a:lstStyle/>
          <a:p>
            <a:pPr indent="0" marL="0">
              <a:buNone/>
            </a:pPr>
            <a:r>
              <a:rPr lang="en-US" sz="1400" dirty="0">
                <a:solidFill>
                  <a:schemeClr val="tx2"/>
                </a:solidFill>
              </a:rPr>
              <a:t>UDP, one port for RTP + RTCP + STUN, 0.1–1.2 Mbit/s. Late data is useless, so we repair selectively.</a:t>
            </a:r>
            <a:endParaRPr lang="en-US" sz="1400" dirty="0"/>
          </a:p>
        </p:txBody>
      </p:sp>
      <p:sp>
        <p:nvSpPr>
          <p:cNvPr id="20" name="card-35"/>
          <p:cNvSpPr/>
          <p:nvPr/>
        </p:nvSpPr>
        <p:spPr>
          <a:xfrm>
            <a:off x="8046720" y="4434840"/>
            <a:ext cx="3520440" cy="1600200"/>
          </a:xfrm>
          <a:prstGeom prst="roundRect">
            <a:avLst>
              <a:gd name="adj" fmla="val 6857"/>
            </a:avLst>
          </a:prstGeom>
          <a:solidFill>
            <a:schemeClr val="bg2"/>
          </a:solidFill>
          <a:ln/>
        </p:spPr>
      </p:sp>
      <p:sp>
        <p:nvSpPr>
          <p:cNvPr id="21" name="text-36"/>
          <p:cNvSpPr txBox="1"/>
          <p:nvPr/>
        </p:nvSpPr>
        <p:spPr>
          <a:xfrm>
            <a:off x="8275320" y="4572000"/>
            <a:ext cx="3108960" cy="365760"/>
          </a:xfrm>
          <a:prstGeom prst="rect">
            <a:avLst/>
          </a:prstGeom>
          <a:noFill/>
          <a:ln/>
        </p:spPr>
        <p:txBody>
          <a:bodyPr wrap="square" lIns="0" tIns="0" rIns="0" bIns="0" rtlCol="0" anchor="t"/>
          <a:lstStyle/>
          <a:p>
            <a:pPr indent="0" marL="0">
              <a:buNone/>
            </a:pPr>
            <a:r>
              <a:rPr lang="en-US" sz="1700" b="1" dirty="0">
                <a:solidFill>
                  <a:schemeClr val="tx1"/>
                </a:solidFill>
              </a:rPr>
              <a:t>Robust</a:t>
            </a:r>
            <a:endParaRPr lang="en-US" sz="1700" dirty="0"/>
          </a:p>
        </p:txBody>
      </p:sp>
      <p:sp>
        <p:nvSpPr>
          <p:cNvPr id="22" name="text-37"/>
          <p:cNvSpPr txBox="1"/>
          <p:nvPr/>
        </p:nvSpPr>
        <p:spPr>
          <a:xfrm>
            <a:off x="8275320" y="4956048"/>
            <a:ext cx="3108960" cy="1005840"/>
          </a:xfrm>
          <a:prstGeom prst="rect">
            <a:avLst/>
          </a:prstGeom>
          <a:noFill/>
          <a:ln/>
        </p:spPr>
        <p:txBody>
          <a:bodyPr wrap="square" lIns="0" tIns="0" rIns="0" bIns="0" rtlCol="0" anchor="t"/>
          <a:lstStyle/>
          <a:p>
            <a:pPr indent="0" marL="0">
              <a:buNone/>
            </a:pPr>
            <a:r>
              <a:rPr lang="en-US" sz="1400" dirty="0">
                <a:solidFill>
                  <a:schemeClr val="tx2"/>
                </a:solidFill>
              </a:rPr>
              <a:t>If the server dies, running calls continue. The server never sees (or can decrypt) media.</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Signalling: a plain-text protocol over TCP</a:t>
            </a:r>
            <a:endParaRPr lang="en-US" sz="3200" dirty="0"/>
          </a:p>
        </p:txBody>
      </p:sp>
      <p:sp>
        <p:nvSpPr>
          <p:cNvPr id="3" name="console-38"/>
          <p:cNvSpPr/>
          <p:nvPr/>
        </p:nvSpPr>
        <p:spPr>
          <a:xfrm>
            <a:off x="548640" y="1371600"/>
            <a:ext cx="5394960" cy="4480560"/>
          </a:xfrm>
          <a:prstGeom prst="roundRect">
            <a:avLst>
              <a:gd name="adj" fmla="val 2449"/>
            </a:avLst>
          </a:prstGeom>
          <a:solidFill>
            <a:schemeClr val="tx1"/>
          </a:solidFill>
          <a:ln/>
        </p:spPr>
      </p:sp>
      <p:sp>
        <p:nvSpPr>
          <p:cNvPr id="4" name="text-39"/>
          <p:cNvSpPr txBox="1"/>
          <p:nvPr/>
        </p:nvSpPr>
        <p:spPr>
          <a:xfrm>
            <a:off x="868680" y="1691640"/>
            <a:ext cx="4846320" cy="3931920"/>
          </a:xfrm>
          <a:prstGeom prst="rect">
            <a:avLst/>
          </a:prstGeom>
          <a:noFill/>
          <a:ln/>
        </p:spPr>
        <p:txBody>
          <a:bodyPr wrap="square" lIns="0" tIns="0" rIns="0" bIns="0" rtlCol="0" anchor="t"/>
          <a:lstStyle/>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JOIN demo carol</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JOINED c1 demo a1:alice</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CAND a1 srflx 49.36.1.2 50000</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KEY a1 3f9a…c41d</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CAND a1 host 10.0.0.5 41000</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KEY a1 77be…09aa</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PING</a:t>
            </a:r>
            <a:endParaRPr lang="en-US" sz="1700" dirty="0"/>
          </a:p>
          <a:p>
            <a:pPr indent="0" marL="0">
              <a:spcAft>
                <a:spcPts val="800"/>
              </a:spcAft>
              <a:buNone/>
            </a:pPr>
            <a:r>
              <a:rPr lang="en-US" sz="1700" dirty="0">
                <a:solidFill>
                  <a:schemeClr val="bg2"/>
                </a:solidFill>
                <a:latin typeface="Consolas" pitchFamily="34" charset="0"/>
                <a:ea typeface="Consolas" pitchFamily="34" charset="-122"/>
                <a:cs typeface="Consolas" pitchFamily="34" charset="-120"/>
              </a:rPr>
              <a:t>← PONG</a:t>
            </a:r>
            <a:endParaRPr lang="en-US" sz="1700" dirty="0"/>
          </a:p>
        </p:txBody>
      </p:sp>
      <p:sp>
        <p:nvSpPr>
          <p:cNvPr id="5" name="badge-40"/>
          <p:cNvSpPr/>
          <p:nvPr/>
        </p:nvSpPr>
        <p:spPr>
          <a:xfrm>
            <a:off x="6400800" y="1463040"/>
            <a:ext cx="438912" cy="438912"/>
          </a:xfrm>
          <a:prstGeom prst="ellipse">
            <a:avLst/>
          </a:prstGeom>
          <a:solidFill>
            <a:schemeClr val="accent1"/>
          </a:solidFill>
          <a:ln/>
        </p:spPr>
      </p:sp>
      <p:sp>
        <p:nvSpPr>
          <p:cNvPr id="6" name="badge-text-41"/>
          <p:cNvSpPr txBox="1"/>
          <p:nvPr/>
        </p:nvSpPr>
        <p:spPr>
          <a:xfrm>
            <a:off x="6400800" y="14630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42"/>
          <p:cNvSpPr txBox="1"/>
          <p:nvPr/>
        </p:nvSpPr>
        <p:spPr>
          <a:xfrm>
            <a:off x="7040880" y="1417320"/>
            <a:ext cx="4572000" cy="365760"/>
          </a:xfrm>
          <a:prstGeom prst="rect">
            <a:avLst/>
          </a:prstGeom>
          <a:noFill/>
          <a:ln/>
        </p:spPr>
        <p:txBody>
          <a:bodyPr wrap="square" lIns="0" tIns="0" rIns="0" bIns="0" rtlCol="0" anchor="t"/>
          <a:lstStyle/>
          <a:p>
            <a:pPr indent="0" marL="0">
              <a:buNone/>
            </a:pPr>
            <a:r>
              <a:rPr lang="en-US" sz="1800" b="1" dirty="0">
                <a:solidFill>
                  <a:schemeClr val="tx1"/>
                </a:solidFill>
              </a:rPr>
              <a:t>Newline framing</a:t>
            </a:r>
            <a:endParaRPr lang="en-US" sz="1800" dirty="0"/>
          </a:p>
        </p:txBody>
      </p:sp>
      <p:sp>
        <p:nvSpPr>
          <p:cNvPr id="8" name="text-43"/>
          <p:cNvSpPr txBox="1"/>
          <p:nvPr/>
        </p:nvSpPr>
        <p:spPr>
          <a:xfrm>
            <a:off x="7040880" y="1801368"/>
            <a:ext cx="4572000" cy="594360"/>
          </a:xfrm>
          <a:prstGeom prst="rect">
            <a:avLst/>
          </a:prstGeom>
          <a:noFill/>
          <a:ln/>
        </p:spPr>
        <p:txBody>
          <a:bodyPr wrap="square" lIns="0" tIns="0" rIns="0" bIns="0" rtlCol="0" anchor="t"/>
          <a:lstStyle/>
          <a:p>
            <a:pPr indent="0" marL="0">
              <a:buNone/>
            </a:pPr>
            <a:r>
              <a:rPr lang="en-US" sz="1500" dirty="0">
                <a:solidFill>
                  <a:schemeClr val="tx2"/>
                </a:solidFill>
              </a:rPr>
              <a:t>TCP is a byte stream; lines rebuild message boundaries.</a:t>
            </a:r>
            <a:endParaRPr lang="en-US" sz="1500" dirty="0"/>
          </a:p>
        </p:txBody>
      </p:sp>
      <p:sp>
        <p:nvSpPr>
          <p:cNvPr id="9" name="badge-44"/>
          <p:cNvSpPr/>
          <p:nvPr/>
        </p:nvSpPr>
        <p:spPr>
          <a:xfrm>
            <a:off x="6400800" y="2560320"/>
            <a:ext cx="438912" cy="438912"/>
          </a:xfrm>
          <a:prstGeom prst="ellipse">
            <a:avLst/>
          </a:prstGeom>
          <a:solidFill>
            <a:schemeClr val="accent1"/>
          </a:solidFill>
          <a:ln/>
        </p:spPr>
      </p:sp>
      <p:sp>
        <p:nvSpPr>
          <p:cNvPr id="10" name="badge-text-45"/>
          <p:cNvSpPr txBox="1"/>
          <p:nvPr/>
        </p:nvSpPr>
        <p:spPr>
          <a:xfrm>
            <a:off x="6400800" y="256032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46"/>
          <p:cNvSpPr txBox="1"/>
          <p:nvPr/>
        </p:nvSpPr>
        <p:spPr>
          <a:xfrm>
            <a:off x="7040880" y="2514600"/>
            <a:ext cx="4572000" cy="365760"/>
          </a:xfrm>
          <a:prstGeom prst="rect">
            <a:avLst/>
          </a:prstGeom>
          <a:noFill/>
          <a:ln/>
        </p:spPr>
        <p:txBody>
          <a:bodyPr wrap="square" lIns="0" tIns="0" rIns="0" bIns="0" rtlCol="0" anchor="t"/>
          <a:lstStyle/>
          <a:p>
            <a:pPr indent="0" marL="0">
              <a:buNone/>
            </a:pPr>
            <a:r>
              <a:rPr lang="en-US" sz="1800" b="1" dirty="0">
                <a:solidFill>
                  <a:schemeClr val="tx1"/>
                </a:solidFill>
              </a:rPr>
              <a:t>One select() loop</a:t>
            </a:r>
            <a:endParaRPr lang="en-US" sz="1800" dirty="0"/>
          </a:p>
        </p:txBody>
      </p:sp>
      <p:sp>
        <p:nvSpPr>
          <p:cNvPr id="12" name="text-47"/>
          <p:cNvSpPr txBox="1"/>
          <p:nvPr/>
        </p:nvSpPr>
        <p:spPr>
          <a:xfrm>
            <a:off x="7040880" y="2898648"/>
            <a:ext cx="4572000" cy="594360"/>
          </a:xfrm>
          <a:prstGeom prst="rect">
            <a:avLst/>
          </a:prstGeom>
          <a:noFill/>
          <a:ln/>
        </p:spPr>
        <p:txBody>
          <a:bodyPr wrap="square" lIns="0" tIns="0" rIns="0" bIns="0" rtlCol="0" anchor="t"/>
          <a:lstStyle/>
          <a:p>
            <a:pPr indent="0" marL="0">
              <a:buNone/>
            </a:pPr>
            <a:r>
              <a:rPr lang="en-US" sz="1500" dirty="0">
                <a:solidFill>
                  <a:schemeClr val="tx2"/>
                </a:solidFill>
              </a:rPr>
              <a:t>Single thread, no locks, same code on Winsock and POSIX.</a:t>
            </a:r>
            <a:endParaRPr lang="en-US" sz="1500" dirty="0"/>
          </a:p>
        </p:txBody>
      </p:sp>
      <p:sp>
        <p:nvSpPr>
          <p:cNvPr id="13" name="badge-48"/>
          <p:cNvSpPr/>
          <p:nvPr/>
        </p:nvSpPr>
        <p:spPr>
          <a:xfrm>
            <a:off x="6400800" y="3657600"/>
            <a:ext cx="438912" cy="438912"/>
          </a:xfrm>
          <a:prstGeom prst="ellipse">
            <a:avLst/>
          </a:prstGeom>
          <a:solidFill>
            <a:schemeClr val="accent1"/>
          </a:solidFill>
          <a:ln/>
        </p:spPr>
      </p:sp>
      <p:sp>
        <p:nvSpPr>
          <p:cNvPr id="14" name="badge-text-49"/>
          <p:cNvSpPr txBox="1"/>
          <p:nvPr/>
        </p:nvSpPr>
        <p:spPr>
          <a:xfrm>
            <a:off x="6400800" y="36576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50"/>
          <p:cNvSpPr txBox="1"/>
          <p:nvPr/>
        </p:nvSpPr>
        <p:spPr>
          <a:xfrm>
            <a:off x="7040880" y="3611880"/>
            <a:ext cx="4572000" cy="365760"/>
          </a:xfrm>
          <a:prstGeom prst="rect">
            <a:avLst/>
          </a:prstGeom>
          <a:noFill/>
          <a:ln/>
        </p:spPr>
        <p:txBody>
          <a:bodyPr wrap="square" lIns="0" tIns="0" rIns="0" bIns="0" rtlCol="0" anchor="t"/>
          <a:lstStyle/>
          <a:p>
            <a:pPr indent="0" marL="0">
              <a:buNone/>
            </a:pPr>
            <a:r>
              <a:rPr lang="en-US" sz="1800" b="1" dirty="0">
                <a:solidFill>
                  <a:schemeClr val="tx1"/>
                </a:solidFill>
              </a:rPr>
              <a:t>Validation</a:t>
            </a:r>
            <a:endParaRPr lang="en-US" sz="1800" dirty="0"/>
          </a:p>
        </p:txBody>
      </p:sp>
      <p:sp>
        <p:nvSpPr>
          <p:cNvPr id="16" name="text-51"/>
          <p:cNvSpPr txBox="1"/>
          <p:nvPr/>
        </p:nvSpPr>
        <p:spPr>
          <a:xfrm>
            <a:off x="7040880" y="3995928"/>
            <a:ext cx="4572000" cy="594360"/>
          </a:xfrm>
          <a:prstGeom prst="rect">
            <a:avLst/>
          </a:prstGeom>
          <a:noFill/>
          <a:ln/>
        </p:spPr>
        <p:txBody>
          <a:bodyPr wrap="square" lIns="0" tIns="0" rIns="0" bIns="0" rtlCol="0" anchor="t"/>
          <a:lstStyle/>
          <a:p>
            <a:pPr indent="0" marL="0">
              <a:buNone/>
            </a:pPr>
            <a:r>
              <a:rPr lang="en-US" sz="1500" dirty="0">
                <a:solidFill>
                  <a:schemeClr val="tx2"/>
                </a:solidFill>
              </a:rPr>
              <a:t>512-byte lines, name rules, relay only inside a room, max 4.</a:t>
            </a:r>
            <a:endParaRPr lang="en-US" sz="1500" dirty="0"/>
          </a:p>
        </p:txBody>
      </p:sp>
      <p:sp>
        <p:nvSpPr>
          <p:cNvPr id="17" name="badge-52"/>
          <p:cNvSpPr/>
          <p:nvPr/>
        </p:nvSpPr>
        <p:spPr>
          <a:xfrm>
            <a:off x="6400800" y="4754880"/>
            <a:ext cx="438912" cy="438912"/>
          </a:xfrm>
          <a:prstGeom prst="ellipse">
            <a:avLst/>
          </a:prstGeom>
          <a:solidFill>
            <a:schemeClr val="accent1"/>
          </a:solidFill>
          <a:ln/>
        </p:spPr>
      </p:sp>
      <p:sp>
        <p:nvSpPr>
          <p:cNvPr id="18" name="badge-text-53"/>
          <p:cNvSpPr txBox="1"/>
          <p:nvPr/>
        </p:nvSpPr>
        <p:spPr>
          <a:xfrm>
            <a:off x="6400800" y="475488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text-54"/>
          <p:cNvSpPr txBox="1"/>
          <p:nvPr/>
        </p:nvSpPr>
        <p:spPr>
          <a:xfrm>
            <a:off x="7040880" y="47091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Liveness</a:t>
            </a:r>
            <a:endParaRPr lang="en-US" sz="1800" dirty="0"/>
          </a:p>
        </p:txBody>
      </p:sp>
      <p:sp>
        <p:nvSpPr>
          <p:cNvPr id="20" name="text-55"/>
          <p:cNvSpPr txBox="1"/>
          <p:nvPr/>
        </p:nvSpPr>
        <p:spPr>
          <a:xfrm>
            <a:off x="7040880" y="5093208"/>
            <a:ext cx="4572000" cy="594360"/>
          </a:xfrm>
          <a:prstGeom prst="rect">
            <a:avLst/>
          </a:prstGeom>
          <a:noFill/>
          <a:ln/>
        </p:spPr>
        <p:txBody>
          <a:bodyPr wrap="square" lIns="0" tIns="0" rIns="0" bIns="0" rtlCol="0" anchor="t"/>
          <a:lstStyle/>
          <a:p>
            <a:pPr indent="0" marL="0">
              <a:buNone/>
            </a:pPr>
            <a:r>
              <a:rPr lang="en-US" sz="1500" dirty="0">
                <a:solidFill>
                  <a:schemeClr val="tx2"/>
                </a:solidFill>
              </a:rPr>
              <a:t>PING every 5 s. Clients trust live media over a server timeout.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NAT traversal: STUN plus UDP hole punching</a:t>
            </a:r>
            <a:endParaRPr lang="en-US" sz="3200" dirty="0"/>
          </a:p>
        </p:txBody>
      </p:sp>
      <p:sp>
        <p:nvSpPr>
          <p:cNvPr id="3" name="card-56"/>
          <p:cNvSpPr/>
          <p:nvPr/>
        </p:nvSpPr>
        <p:spPr>
          <a:xfrm>
            <a:off x="548640" y="1417320"/>
            <a:ext cx="2560320" cy="2514600"/>
          </a:xfrm>
          <a:prstGeom prst="roundRect">
            <a:avLst>
              <a:gd name="adj" fmla="val 4364"/>
            </a:avLst>
          </a:prstGeom>
          <a:solidFill>
            <a:schemeClr val="bg2"/>
          </a:solidFill>
          <a:ln/>
        </p:spPr>
      </p:sp>
      <p:sp>
        <p:nvSpPr>
          <p:cNvPr id="4" name="badge-57"/>
          <p:cNvSpPr/>
          <p:nvPr/>
        </p:nvSpPr>
        <p:spPr>
          <a:xfrm>
            <a:off x="777240" y="1600200"/>
            <a:ext cx="438912" cy="438912"/>
          </a:xfrm>
          <a:prstGeom prst="ellipse">
            <a:avLst/>
          </a:prstGeom>
          <a:solidFill>
            <a:schemeClr val="accent1"/>
          </a:solidFill>
          <a:ln/>
        </p:spPr>
      </p:sp>
      <p:sp>
        <p:nvSpPr>
          <p:cNvPr id="5" name="badge-text-58"/>
          <p:cNvSpPr txBox="1"/>
          <p:nvPr/>
        </p:nvSpPr>
        <p:spPr>
          <a:xfrm>
            <a:off x="77724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59"/>
          <p:cNvSpPr txBox="1"/>
          <p:nvPr/>
        </p:nvSpPr>
        <p:spPr>
          <a:xfrm>
            <a:off x="777240" y="2148840"/>
            <a:ext cx="2148840" cy="411480"/>
          </a:xfrm>
          <a:prstGeom prst="rect">
            <a:avLst/>
          </a:prstGeom>
          <a:noFill/>
          <a:ln/>
        </p:spPr>
        <p:txBody>
          <a:bodyPr wrap="square" lIns="0" tIns="0" rIns="0" bIns="0" rtlCol="0" anchor="t"/>
          <a:lstStyle/>
          <a:p>
            <a:pPr indent="0" marL="0">
              <a:buNone/>
            </a:pPr>
            <a:r>
              <a:rPr lang="en-US" sz="1900" b="1" dirty="0">
                <a:solidFill>
                  <a:schemeClr val="tx1"/>
                </a:solidFill>
              </a:rPr>
              <a:t>Gather</a:t>
            </a:r>
            <a:endParaRPr lang="en-US" sz="1900" dirty="0"/>
          </a:p>
        </p:txBody>
      </p:sp>
      <p:sp>
        <p:nvSpPr>
          <p:cNvPr id="7" name="text-60"/>
          <p:cNvSpPr txBox="1"/>
          <p:nvPr/>
        </p:nvSpPr>
        <p:spPr>
          <a:xfrm>
            <a:off x="777240" y="2606040"/>
            <a:ext cx="2148840" cy="1234440"/>
          </a:xfrm>
          <a:prstGeom prst="rect">
            <a:avLst/>
          </a:prstGeom>
          <a:noFill/>
          <a:ln/>
        </p:spPr>
        <p:txBody>
          <a:bodyPr wrap="square" lIns="0" tIns="0" rIns="0" bIns="0" rtlCol="0" anchor="t"/>
          <a:lstStyle/>
          <a:p>
            <a:pPr indent="0" marL="0">
              <a:buNone/>
            </a:pPr>
            <a:r>
              <a:rPr lang="en-US" sz="1400" dirty="0">
                <a:solidFill>
                  <a:schemeClr val="tx2"/>
                </a:solidFill>
              </a:rPr>
              <a:t>host = LAN IP; srflx = public IP:port from the STUN reply (XOR-MAPPED-ADDRESS)</a:t>
            </a:r>
            <a:endParaRPr lang="en-US" sz="1400" dirty="0"/>
          </a:p>
        </p:txBody>
      </p:sp>
      <p:sp>
        <p:nvSpPr>
          <p:cNvPr id="8" name="arrow-61"/>
          <p:cNvSpPr/>
          <p:nvPr/>
        </p:nvSpPr>
        <p:spPr>
          <a:xfrm>
            <a:off x="3136392" y="2670048"/>
            <a:ext cx="219456" cy="0"/>
          </a:xfrm>
          <a:prstGeom prst="line">
            <a:avLst/>
          </a:prstGeom>
          <a:noFill/>
          <a:ln w="31750">
            <a:solidFill>
              <a:srgbClr val="7A8599"/>
            </a:solidFill>
            <a:prstDash val="solid"/>
            <a:tailEnd type="triangle"/>
          </a:ln>
        </p:spPr>
      </p:sp>
      <p:sp>
        <p:nvSpPr>
          <p:cNvPr id="9" name="card-62"/>
          <p:cNvSpPr/>
          <p:nvPr/>
        </p:nvSpPr>
        <p:spPr>
          <a:xfrm>
            <a:off x="3383280" y="1417320"/>
            <a:ext cx="2560320" cy="2514600"/>
          </a:xfrm>
          <a:prstGeom prst="roundRect">
            <a:avLst>
              <a:gd name="adj" fmla="val 4364"/>
            </a:avLst>
          </a:prstGeom>
          <a:solidFill>
            <a:schemeClr val="bg2"/>
          </a:solidFill>
          <a:ln/>
        </p:spPr>
      </p:sp>
      <p:sp>
        <p:nvSpPr>
          <p:cNvPr id="10" name="badge-63"/>
          <p:cNvSpPr/>
          <p:nvPr/>
        </p:nvSpPr>
        <p:spPr>
          <a:xfrm>
            <a:off x="3611880" y="1600200"/>
            <a:ext cx="438912" cy="438912"/>
          </a:xfrm>
          <a:prstGeom prst="ellipse">
            <a:avLst/>
          </a:prstGeom>
          <a:solidFill>
            <a:schemeClr val="accent1"/>
          </a:solidFill>
          <a:ln/>
        </p:spPr>
      </p:sp>
      <p:sp>
        <p:nvSpPr>
          <p:cNvPr id="11" name="badge-text-64"/>
          <p:cNvSpPr txBox="1"/>
          <p:nvPr/>
        </p:nvSpPr>
        <p:spPr>
          <a:xfrm>
            <a:off x="361188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65"/>
          <p:cNvSpPr txBox="1"/>
          <p:nvPr/>
        </p:nvSpPr>
        <p:spPr>
          <a:xfrm>
            <a:off x="3611880" y="2148840"/>
            <a:ext cx="2148840" cy="411480"/>
          </a:xfrm>
          <a:prstGeom prst="rect">
            <a:avLst/>
          </a:prstGeom>
          <a:noFill/>
          <a:ln/>
        </p:spPr>
        <p:txBody>
          <a:bodyPr wrap="square" lIns="0" tIns="0" rIns="0" bIns="0" rtlCol="0" anchor="t"/>
          <a:lstStyle/>
          <a:p>
            <a:pPr indent="0" marL="0">
              <a:buNone/>
            </a:pPr>
            <a:r>
              <a:rPr lang="en-US" sz="1900" b="1" dirty="0">
                <a:solidFill>
                  <a:schemeClr val="tx1"/>
                </a:solidFill>
              </a:rPr>
              <a:t>Exchange</a:t>
            </a:r>
            <a:endParaRPr lang="en-US" sz="1900" dirty="0"/>
          </a:p>
        </p:txBody>
      </p:sp>
      <p:sp>
        <p:nvSpPr>
          <p:cNvPr id="13" name="text-66"/>
          <p:cNvSpPr txBox="1"/>
          <p:nvPr/>
        </p:nvSpPr>
        <p:spPr>
          <a:xfrm>
            <a:off x="3611880" y="2606040"/>
            <a:ext cx="2148840" cy="1234440"/>
          </a:xfrm>
          <a:prstGeom prst="rect">
            <a:avLst/>
          </a:prstGeom>
          <a:noFill/>
          <a:ln/>
        </p:spPr>
        <p:txBody>
          <a:bodyPr wrap="square" lIns="0" tIns="0" rIns="0" bIns="0" rtlCol="0" anchor="t"/>
          <a:lstStyle/>
          <a:p>
            <a:pPr indent="0" marL="0">
              <a:buNone/>
            </a:pPr>
            <a:r>
              <a:rPr lang="en-US" sz="1400" dirty="0">
                <a:solidFill>
                  <a:schemeClr val="tx2"/>
                </a:solidFill>
              </a:rPr>
              <a:t>candidates sent as CAND lines through the signalling server</a:t>
            </a:r>
            <a:endParaRPr lang="en-US" sz="1400" dirty="0"/>
          </a:p>
        </p:txBody>
      </p:sp>
      <p:sp>
        <p:nvSpPr>
          <p:cNvPr id="14" name="arrow-67"/>
          <p:cNvSpPr/>
          <p:nvPr/>
        </p:nvSpPr>
        <p:spPr>
          <a:xfrm>
            <a:off x="5971032" y="2670048"/>
            <a:ext cx="219456" cy="0"/>
          </a:xfrm>
          <a:prstGeom prst="line">
            <a:avLst/>
          </a:prstGeom>
          <a:noFill/>
          <a:ln w="31750">
            <a:solidFill>
              <a:srgbClr val="7A8599"/>
            </a:solidFill>
            <a:prstDash val="solid"/>
            <a:tailEnd type="triangle"/>
          </a:ln>
        </p:spPr>
      </p:sp>
      <p:sp>
        <p:nvSpPr>
          <p:cNvPr id="15" name="card-68"/>
          <p:cNvSpPr/>
          <p:nvPr/>
        </p:nvSpPr>
        <p:spPr>
          <a:xfrm>
            <a:off x="6217920" y="1417320"/>
            <a:ext cx="2560320" cy="2514600"/>
          </a:xfrm>
          <a:prstGeom prst="roundRect">
            <a:avLst>
              <a:gd name="adj" fmla="val 4364"/>
            </a:avLst>
          </a:prstGeom>
          <a:solidFill>
            <a:schemeClr val="bg2"/>
          </a:solidFill>
          <a:ln/>
        </p:spPr>
      </p:sp>
      <p:sp>
        <p:nvSpPr>
          <p:cNvPr id="16" name="badge-69"/>
          <p:cNvSpPr/>
          <p:nvPr/>
        </p:nvSpPr>
        <p:spPr>
          <a:xfrm>
            <a:off x="6446520" y="1600200"/>
            <a:ext cx="438912" cy="438912"/>
          </a:xfrm>
          <a:prstGeom prst="ellipse">
            <a:avLst/>
          </a:prstGeom>
          <a:solidFill>
            <a:schemeClr val="accent1"/>
          </a:solidFill>
          <a:ln/>
        </p:spPr>
      </p:sp>
      <p:sp>
        <p:nvSpPr>
          <p:cNvPr id="17" name="badge-text-70"/>
          <p:cNvSpPr txBox="1"/>
          <p:nvPr/>
        </p:nvSpPr>
        <p:spPr>
          <a:xfrm>
            <a:off x="644652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71"/>
          <p:cNvSpPr txBox="1"/>
          <p:nvPr/>
        </p:nvSpPr>
        <p:spPr>
          <a:xfrm>
            <a:off x="6446520" y="2148840"/>
            <a:ext cx="2148840" cy="411480"/>
          </a:xfrm>
          <a:prstGeom prst="rect">
            <a:avLst/>
          </a:prstGeom>
          <a:noFill/>
          <a:ln/>
        </p:spPr>
        <p:txBody>
          <a:bodyPr wrap="square" lIns="0" tIns="0" rIns="0" bIns="0" rtlCol="0" anchor="t"/>
          <a:lstStyle/>
          <a:p>
            <a:pPr indent="0" marL="0">
              <a:buNone/>
            </a:pPr>
            <a:r>
              <a:rPr lang="en-US" sz="1900" b="1" dirty="0">
                <a:solidFill>
                  <a:schemeClr val="tx1"/>
                </a:solidFill>
              </a:rPr>
              <a:t>Punch</a:t>
            </a:r>
            <a:endParaRPr lang="en-US" sz="1900" dirty="0"/>
          </a:p>
        </p:txBody>
      </p:sp>
      <p:sp>
        <p:nvSpPr>
          <p:cNvPr id="19" name="text-72"/>
          <p:cNvSpPr txBox="1"/>
          <p:nvPr/>
        </p:nvSpPr>
        <p:spPr>
          <a:xfrm>
            <a:off x="6446520" y="2606040"/>
            <a:ext cx="2148840" cy="1234440"/>
          </a:xfrm>
          <a:prstGeom prst="rect">
            <a:avLst/>
          </a:prstGeom>
          <a:noFill/>
          <a:ln/>
        </p:spPr>
        <p:txBody>
          <a:bodyPr wrap="square" lIns="0" tIns="0" rIns="0" bIns="0" rtlCol="0" anchor="t"/>
          <a:lstStyle/>
          <a:p>
            <a:pPr indent="0" marL="0">
              <a:buNone/>
            </a:pPr>
            <a:r>
              <a:rPr lang="en-US" sz="1400" dirty="0">
                <a:solidFill>
                  <a:schemeClr val="tx2"/>
                </a:solidFill>
              </a:rPr>
              <a:t>both send STUN checks at once; each outgoing packet opens its own NAT</a:t>
            </a:r>
            <a:endParaRPr lang="en-US" sz="1400" dirty="0"/>
          </a:p>
        </p:txBody>
      </p:sp>
      <p:sp>
        <p:nvSpPr>
          <p:cNvPr id="20" name="arrow-73"/>
          <p:cNvSpPr/>
          <p:nvPr/>
        </p:nvSpPr>
        <p:spPr>
          <a:xfrm>
            <a:off x="8805672" y="2670048"/>
            <a:ext cx="219456" cy="0"/>
          </a:xfrm>
          <a:prstGeom prst="line">
            <a:avLst/>
          </a:prstGeom>
          <a:noFill/>
          <a:ln w="31750">
            <a:solidFill>
              <a:srgbClr val="7A8599"/>
            </a:solidFill>
            <a:prstDash val="solid"/>
            <a:tailEnd type="triangle"/>
          </a:ln>
        </p:spPr>
      </p:sp>
      <p:sp>
        <p:nvSpPr>
          <p:cNvPr id="21" name="card-74"/>
          <p:cNvSpPr/>
          <p:nvPr/>
        </p:nvSpPr>
        <p:spPr>
          <a:xfrm>
            <a:off x="9052560" y="1417320"/>
            <a:ext cx="2560320" cy="2514600"/>
          </a:xfrm>
          <a:prstGeom prst="roundRect">
            <a:avLst>
              <a:gd name="adj" fmla="val 4364"/>
            </a:avLst>
          </a:prstGeom>
          <a:solidFill>
            <a:schemeClr val="bg2"/>
          </a:solidFill>
          <a:ln/>
        </p:spPr>
      </p:sp>
      <p:sp>
        <p:nvSpPr>
          <p:cNvPr id="22" name="badge-75"/>
          <p:cNvSpPr/>
          <p:nvPr/>
        </p:nvSpPr>
        <p:spPr>
          <a:xfrm>
            <a:off x="9281160" y="1600200"/>
            <a:ext cx="438912" cy="438912"/>
          </a:xfrm>
          <a:prstGeom prst="ellipse">
            <a:avLst/>
          </a:prstGeom>
          <a:solidFill>
            <a:schemeClr val="accent1"/>
          </a:solidFill>
          <a:ln/>
        </p:spPr>
      </p:sp>
      <p:sp>
        <p:nvSpPr>
          <p:cNvPr id="23" name="badge-text-76"/>
          <p:cNvSpPr txBox="1"/>
          <p:nvPr/>
        </p:nvSpPr>
        <p:spPr>
          <a:xfrm>
            <a:off x="928116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4" name="text-77"/>
          <p:cNvSpPr txBox="1"/>
          <p:nvPr/>
        </p:nvSpPr>
        <p:spPr>
          <a:xfrm>
            <a:off x="9281160" y="2148840"/>
            <a:ext cx="2148840" cy="411480"/>
          </a:xfrm>
          <a:prstGeom prst="rect">
            <a:avLst/>
          </a:prstGeom>
          <a:noFill/>
          <a:ln/>
        </p:spPr>
        <p:txBody>
          <a:bodyPr wrap="square" lIns="0" tIns="0" rIns="0" bIns="0" rtlCol="0" anchor="t"/>
          <a:lstStyle/>
          <a:p>
            <a:pPr indent="0" marL="0">
              <a:buNone/>
            </a:pPr>
            <a:r>
              <a:rPr lang="en-US" sz="1900" b="1" dirty="0">
                <a:solidFill>
                  <a:schemeClr val="tx1"/>
                </a:solidFill>
              </a:rPr>
              <a:t>Select</a:t>
            </a:r>
            <a:endParaRPr lang="en-US" sz="1900" dirty="0"/>
          </a:p>
        </p:txBody>
      </p:sp>
      <p:sp>
        <p:nvSpPr>
          <p:cNvPr id="25" name="text-78"/>
          <p:cNvSpPr txBox="1"/>
          <p:nvPr/>
        </p:nvSpPr>
        <p:spPr>
          <a:xfrm>
            <a:off x="9281160" y="2606040"/>
            <a:ext cx="2148840" cy="1234440"/>
          </a:xfrm>
          <a:prstGeom prst="rect">
            <a:avLst/>
          </a:prstGeom>
          <a:noFill/>
          <a:ln/>
        </p:spPr>
        <p:txBody>
          <a:bodyPr wrap="square" lIns="0" tIns="0" rIns="0" bIns="0" rtlCol="0" anchor="t"/>
          <a:lstStyle/>
          <a:p>
            <a:pPr indent="0" marL="0">
              <a:buNone/>
            </a:pPr>
            <a:r>
              <a:rPr lang="en-US" sz="1400" dirty="0">
                <a:solidFill>
                  <a:schemeClr val="tx2"/>
                </a:solidFill>
              </a:rPr>
              <a:t>first pair that answers carries the media; keepalive every 2.5 s</a:t>
            </a:r>
            <a:endParaRPr lang="en-US" sz="1400" dirty="0"/>
          </a:p>
        </p:txBody>
      </p:sp>
      <p:sp>
        <p:nvSpPr>
          <p:cNvPr id="26" name="card-79"/>
          <p:cNvSpPr/>
          <p:nvPr/>
        </p:nvSpPr>
        <p:spPr>
          <a:xfrm>
            <a:off x="548640" y="4206240"/>
            <a:ext cx="6766560" cy="1828800"/>
          </a:xfrm>
          <a:prstGeom prst="roundRect">
            <a:avLst>
              <a:gd name="adj" fmla="val 6000"/>
            </a:avLst>
          </a:prstGeom>
          <a:solidFill>
            <a:srgbClr val="FFF1E6"/>
          </a:solidFill>
          <a:ln/>
        </p:spPr>
      </p:sp>
      <p:sp>
        <p:nvSpPr>
          <p:cNvPr id="27" name="text-80"/>
          <p:cNvSpPr txBox="1"/>
          <p:nvPr/>
        </p:nvSpPr>
        <p:spPr>
          <a:xfrm>
            <a:off x="777240" y="4343400"/>
            <a:ext cx="6400800" cy="365760"/>
          </a:xfrm>
          <a:prstGeom prst="rect">
            <a:avLst/>
          </a:prstGeom>
          <a:noFill/>
          <a:ln/>
        </p:spPr>
        <p:txBody>
          <a:bodyPr wrap="square" lIns="0" tIns="0" rIns="0" bIns="0" rtlCol="0" anchor="t"/>
          <a:lstStyle/>
          <a:p>
            <a:pPr indent="0" marL="0">
              <a:buNone/>
            </a:pPr>
            <a:r>
              <a:rPr lang="en-US" sz="1700" b="1" dirty="0">
                <a:solidFill>
                  <a:schemeClr val="tx1"/>
                </a:solidFill>
              </a:rPr>
              <a:t>Live test: college Wi-Fi ↔ laptop on a mobile hotspot</a:t>
            </a:r>
            <a:endParaRPr lang="en-US" sz="1700" dirty="0"/>
          </a:p>
        </p:txBody>
      </p:sp>
      <p:sp>
        <p:nvSpPr>
          <p:cNvPr id="28" name="text-81"/>
          <p:cNvSpPr txBox="1"/>
          <p:nvPr/>
        </p:nvSpPr>
        <p:spPr>
          <a:xfrm>
            <a:off x="777240" y="4754880"/>
            <a:ext cx="6400800" cy="1188720"/>
          </a:xfrm>
          <a:prstGeom prst="rect">
            <a:avLst/>
          </a:prstGeom>
          <a:noFill/>
          <a:ln/>
        </p:spPr>
        <p:txBody>
          <a:bodyPr wrap="square" lIns="0" tIns="0" rIns="0" bIns="0" rtlCol="0" anchor="t"/>
          <a:lstStyle/>
          <a:p>
            <a:pPr indent="0" marL="0">
              <a:buNone/>
            </a:pPr>
            <a:r>
              <a:rPr lang="en-US" sz="1500" dirty="0">
                <a:solidFill>
                  <a:schemeClr val="tx2"/>
                </a:solidFill>
              </a:rPr>
              <a:t>Both behind NAT, different ISPs. Connected srflx→srflx (public mapping to public mapping) in 0.1–0.75 s, three times, ~9 minutes of calls. Nothing relayed.</a:t>
            </a:r>
            <a:endParaRPr lang="en-US" sz="1500" dirty="0"/>
          </a:p>
        </p:txBody>
      </p:sp>
      <p:sp>
        <p:nvSpPr>
          <p:cNvPr id="29" name="card-82"/>
          <p:cNvSpPr/>
          <p:nvPr/>
        </p:nvSpPr>
        <p:spPr>
          <a:xfrm>
            <a:off x="7589520" y="4206240"/>
            <a:ext cx="4023360" cy="1828800"/>
          </a:xfrm>
          <a:prstGeom prst="roundRect">
            <a:avLst>
              <a:gd name="adj" fmla="val 6000"/>
            </a:avLst>
          </a:prstGeom>
          <a:solidFill>
            <a:schemeClr val="bg2"/>
          </a:solidFill>
          <a:ln/>
        </p:spPr>
      </p:sp>
      <p:sp>
        <p:nvSpPr>
          <p:cNvPr id="30" name="text-83"/>
          <p:cNvSpPr txBox="1"/>
          <p:nvPr/>
        </p:nvSpPr>
        <p:spPr>
          <a:xfrm>
            <a:off x="7818120" y="4343400"/>
            <a:ext cx="3657600" cy="365760"/>
          </a:xfrm>
          <a:prstGeom prst="rect">
            <a:avLst/>
          </a:prstGeom>
          <a:noFill/>
          <a:ln/>
        </p:spPr>
        <p:txBody>
          <a:bodyPr wrap="square" lIns="0" tIns="0" rIns="0" bIns="0" rtlCol="0" anchor="t"/>
          <a:lstStyle/>
          <a:p>
            <a:pPr indent="0" marL="0">
              <a:buNone/>
            </a:pPr>
            <a:r>
              <a:rPr lang="en-US" sz="1700" b="1" dirty="0">
                <a:solidFill>
                  <a:schemeClr val="tx1"/>
                </a:solidFill>
              </a:rPr>
              <a:t>When it fails</a:t>
            </a:r>
            <a:endParaRPr lang="en-US" sz="1700" dirty="0"/>
          </a:p>
        </p:txBody>
      </p:sp>
      <p:sp>
        <p:nvSpPr>
          <p:cNvPr id="31" name="text-84"/>
          <p:cNvSpPr txBox="1"/>
          <p:nvPr/>
        </p:nvSpPr>
        <p:spPr>
          <a:xfrm>
            <a:off x="7818120" y="4754880"/>
            <a:ext cx="3657600" cy="1188720"/>
          </a:xfrm>
          <a:prstGeom prst="rect">
            <a:avLst/>
          </a:prstGeom>
          <a:noFill/>
          <a:ln/>
        </p:spPr>
        <p:txBody>
          <a:bodyPr wrap="square" lIns="0" tIns="0" rIns="0" bIns="0" rtlCol="0" anchor="t"/>
          <a:lstStyle/>
          <a:p>
            <a:pPr indent="0" marL="0">
              <a:buNone/>
            </a:pPr>
            <a:r>
              <a:rPr lang="en-US" sz="1400" dirty="0">
                <a:solidFill>
                  <a:schemeClr val="tx2"/>
                </a:solidFill>
              </a:rPr>
              <a:t>Symmetric NAT gives a new port per destination, so STUN's answer is wrong for the peer. Detected after 15 s; would need a TURN relay.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Our framing layer: RTP-style packets on one UDP port</a:t>
            </a:r>
            <a:endParaRPr lang="en-US" sz="3200" dirty="0"/>
          </a:p>
        </p:txBody>
      </p:sp>
      <p:sp>
        <p:nvSpPr>
          <p:cNvPr id="3" name="field-85"/>
          <p:cNvSpPr/>
          <p:nvPr/>
        </p:nvSpPr>
        <p:spPr>
          <a:xfrm>
            <a:off x="548640" y="1463040"/>
            <a:ext cx="822960" cy="566928"/>
          </a:xfrm>
          <a:prstGeom prst="rect">
            <a:avLst/>
          </a:prstGeom>
          <a:solidFill>
            <a:srgbClr val="EEF1F5"/>
          </a:solidFill>
          <a:ln w="12700">
            <a:solidFill>
              <a:srgbClr val="C9D1DC"/>
            </a:solidFill>
            <a:prstDash val="solid"/>
          </a:ln>
        </p:spPr>
      </p:sp>
      <p:sp>
        <p:nvSpPr>
          <p:cNvPr id="4" name="text-86"/>
          <p:cNvSpPr txBox="1"/>
          <p:nvPr/>
        </p:nvSpPr>
        <p:spPr>
          <a:xfrm>
            <a:off x="621792" y="1463040"/>
            <a:ext cx="676656" cy="566928"/>
          </a:xfrm>
          <a:prstGeom prst="rect">
            <a:avLst/>
          </a:prstGeom>
          <a:noFill/>
          <a:ln/>
        </p:spPr>
        <p:txBody>
          <a:bodyPr wrap="square" lIns="0" tIns="0" rIns="0" bIns="0" rtlCol="0" anchor="ctr"/>
          <a:lstStyle/>
          <a:p>
            <a:pPr algn="ctr" indent="0" marL="0">
              <a:buNone/>
            </a:pPr>
            <a:r>
              <a:rPr lang="en-US" sz="1200" dirty="0">
                <a:solidFill>
                  <a:schemeClr val="tx1"/>
                </a:solidFill>
              </a:rPr>
              <a:t>V P X CC</a:t>
            </a:r>
            <a:endParaRPr lang="en-US" sz="1200" dirty="0"/>
          </a:p>
        </p:txBody>
      </p:sp>
      <p:sp>
        <p:nvSpPr>
          <p:cNvPr id="5" name="field-87"/>
          <p:cNvSpPr/>
          <p:nvPr/>
        </p:nvSpPr>
        <p:spPr>
          <a:xfrm>
            <a:off x="1371600" y="1463040"/>
            <a:ext cx="731520" cy="566928"/>
          </a:xfrm>
          <a:prstGeom prst="rect">
            <a:avLst/>
          </a:prstGeom>
          <a:solidFill>
            <a:srgbClr val="EEF1F5"/>
          </a:solidFill>
          <a:ln w="12700">
            <a:solidFill>
              <a:srgbClr val="C9D1DC"/>
            </a:solidFill>
            <a:prstDash val="solid"/>
          </a:ln>
        </p:spPr>
      </p:sp>
      <p:sp>
        <p:nvSpPr>
          <p:cNvPr id="6" name="text-88"/>
          <p:cNvSpPr txBox="1"/>
          <p:nvPr/>
        </p:nvSpPr>
        <p:spPr>
          <a:xfrm>
            <a:off x="1444752" y="1463040"/>
            <a:ext cx="585216" cy="566928"/>
          </a:xfrm>
          <a:prstGeom prst="rect">
            <a:avLst/>
          </a:prstGeom>
          <a:noFill/>
          <a:ln/>
        </p:spPr>
        <p:txBody>
          <a:bodyPr wrap="square" lIns="0" tIns="0" rIns="0" bIns="0" rtlCol="0" anchor="ctr"/>
          <a:lstStyle/>
          <a:p>
            <a:pPr algn="ctr" indent="0" marL="0">
              <a:buNone/>
            </a:pPr>
            <a:r>
              <a:rPr lang="en-US" sz="1200" dirty="0">
                <a:solidFill>
                  <a:schemeClr val="tx1"/>
                </a:solidFill>
              </a:rPr>
              <a:t>M · PT</a:t>
            </a:r>
            <a:endParaRPr lang="en-US" sz="1200" dirty="0"/>
          </a:p>
        </p:txBody>
      </p:sp>
      <p:sp>
        <p:nvSpPr>
          <p:cNvPr id="7" name="field-89"/>
          <p:cNvSpPr/>
          <p:nvPr/>
        </p:nvSpPr>
        <p:spPr>
          <a:xfrm>
            <a:off x="2103120" y="1463040"/>
            <a:ext cx="3566160" cy="566928"/>
          </a:xfrm>
          <a:prstGeom prst="rect">
            <a:avLst/>
          </a:prstGeom>
          <a:solidFill>
            <a:srgbClr val="EEF1F5"/>
          </a:solidFill>
          <a:ln w="12700">
            <a:solidFill>
              <a:srgbClr val="C9D1DC"/>
            </a:solidFill>
            <a:prstDash val="solid"/>
          </a:ln>
        </p:spPr>
      </p:sp>
      <p:sp>
        <p:nvSpPr>
          <p:cNvPr id="8" name="text-90"/>
          <p:cNvSpPr txBox="1"/>
          <p:nvPr/>
        </p:nvSpPr>
        <p:spPr>
          <a:xfrm>
            <a:off x="2176272" y="1463040"/>
            <a:ext cx="3419856" cy="566928"/>
          </a:xfrm>
          <a:prstGeom prst="rect">
            <a:avLst/>
          </a:prstGeom>
          <a:noFill/>
          <a:ln/>
        </p:spPr>
        <p:txBody>
          <a:bodyPr wrap="square" lIns="0" tIns="0" rIns="0" bIns="0" rtlCol="0" anchor="ctr"/>
          <a:lstStyle/>
          <a:p>
            <a:pPr algn="ctr" indent="0" marL="0">
              <a:buNone/>
            </a:pPr>
            <a:r>
              <a:rPr lang="en-US" sz="1200" dirty="0">
                <a:solidFill>
                  <a:schemeClr val="tx1"/>
                </a:solidFill>
              </a:rPr>
              <a:t>sequence number (16 bits)</a:t>
            </a:r>
            <a:endParaRPr lang="en-US" sz="1200" dirty="0"/>
          </a:p>
        </p:txBody>
      </p:sp>
      <p:sp>
        <p:nvSpPr>
          <p:cNvPr id="9" name="field-91"/>
          <p:cNvSpPr/>
          <p:nvPr/>
        </p:nvSpPr>
        <p:spPr>
          <a:xfrm>
            <a:off x="548640" y="2121408"/>
            <a:ext cx="5120640" cy="566928"/>
          </a:xfrm>
          <a:prstGeom prst="rect">
            <a:avLst/>
          </a:prstGeom>
          <a:solidFill>
            <a:srgbClr val="EEF1F5"/>
          </a:solidFill>
          <a:ln w="12700">
            <a:solidFill>
              <a:srgbClr val="C9D1DC"/>
            </a:solidFill>
            <a:prstDash val="solid"/>
          </a:ln>
        </p:spPr>
      </p:sp>
      <p:sp>
        <p:nvSpPr>
          <p:cNvPr id="10" name="text-92"/>
          <p:cNvSpPr txBox="1"/>
          <p:nvPr/>
        </p:nvSpPr>
        <p:spPr>
          <a:xfrm>
            <a:off x="621792" y="2121408"/>
            <a:ext cx="4974336" cy="566928"/>
          </a:xfrm>
          <a:prstGeom prst="rect">
            <a:avLst/>
          </a:prstGeom>
          <a:noFill/>
          <a:ln/>
        </p:spPr>
        <p:txBody>
          <a:bodyPr wrap="square" lIns="0" tIns="0" rIns="0" bIns="0" rtlCol="0" anchor="ctr"/>
          <a:lstStyle/>
          <a:p>
            <a:pPr algn="ctr" indent="0" marL="0">
              <a:buNone/>
            </a:pPr>
            <a:r>
              <a:rPr lang="en-US" sz="1200" dirty="0">
                <a:solidFill>
                  <a:schemeClr val="tx1"/>
                </a:solidFill>
              </a:rPr>
              <a:t>timestamp (32 bits): media time, shared by all packets of a frame</a:t>
            </a:r>
            <a:endParaRPr lang="en-US" sz="1200" dirty="0"/>
          </a:p>
        </p:txBody>
      </p:sp>
      <p:sp>
        <p:nvSpPr>
          <p:cNvPr id="11" name="field-93"/>
          <p:cNvSpPr/>
          <p:nvPr/>
        </p:nvSpPr>
        <p:spPr>
          <a:xfrm>
            <a:off x="548640" y="2779776"/>
            <a:ext cx="5120640" cy="566928"/>
          </a:xfrm>
          <a:prstGeom prst="rect">
            <a:avLst/>
          </a:prstGeom>
          <a:solidFill>
            <a:srgbClr val="EEF1F5"/>
          </a:solidFill>
          <a:ln w="12700">
            <a:solidFill>
              <a:srgbClr val="C9D1DC"/>
            </a:solidFill>
            <a:prstDash val="solid"/>
          </a:ln>
        </p:spPr>
      </p:sp>
      <p:sp>
        <p:nvSpPr>
          <p:cNvPr id="12" name="text-94"/>
          <p:cNvSpPr txBox="1"/>
          <p:nvPr/>
        </p:nvSpPr>
        <p:spPr>
          <a:xfrm>
            <a:off x="621792" y="2779776"/>
            <a:ext cx="4974336" cy="566928"/>
          </a:xfrm>
          <a:prstGeom prst="rect">
            <a:avLst/>
          </a:prstGeom>
          <a:noFill/>
          <a:ln/>
        </p:spPr>
        <p:txBody>
          <a:bodyPr wrap="square" lIns="0" tIns="0" rIns="0" bIns="0" rtlCol="0" anchor="ctr"/>
          <a:lstStyle/>
          <a:p>
            <a:pPr algn="ctr" indent="0" marL="0">
              <a:buNone/>
            </a:pPr>
            <a:r>
              <a:rPr lang="en-US" sz="1200" dirty="0">
                <a:solidFill>
                  <a:schemeClr val="tx1"/>
                </a:solidFill>
              </a:rPr>
              <a:t>SSRC (32 bits): stream id</a:t>
            </a:r>
            <a:endParaRPr lang="en-US" sz="1200" dirty="0"/>
          </a:p>
        </p:txBody>
      </p:sp>
      <p:sp>
        <p:nvSpPr>
          <p:cNvPr id="13" name="field-95"/>
          <p:cNvSpPr/>
          <p:nvPr/>
        </p:nvSpPr>
        <p:spPr>
          <a:xfrm>
            <a:off x="548640" y="3438144"/>
            <a:ext cx="1280160" cy="566928"/>
          </a:xfrm>
          <a:prstGeom prst="rect">
            <a:avLst/>
          </a:prstGeom>
          <a:solidFill>
            <a:srgbClr val="E3E9F6"/>
          </a:solidFill>
          <a:ln w="12700">
            <a:solidFill>
              <a:srgbClr val="C9D1DC"/>
            </a:solidFill>
            <a:prstDash val="solid"/>
          </a:ln>
        </p:spPr>
      </p:sp>
      <p:sp>
        <p:nvSpPr>
          <p:cNvPr id="14" name="text-96"/>
          <p:cNvSpPr txBox="1"/>
          <p:nvPr/>
        </p:nvSpPr>
        <p:spPr>
          <a:xfrm>
            <a:off x="621792" y="3438144"/>
            <a:ext cx="1133856" cy="566928"/>
          </a:xfrm>
          <a:prstGeom prst="rect">
            <a:avLst/>
          </a:prstGeom>
          <a:noFill/>
          <a:ln/>
        </p:spPr>
        <p:txBody>
          <a:bodyPr wrap="square" lIns="0" tIns="0" rIns="0" bIns="0" rtlCol="0" anchor="ctr"/>
          <a:lstStyle/>
          <a:p>
            <a:pPr algn="ctr" indent="0" marL="0">
              <a:buNone/>
            </a:pPr>
            <a:r>
              <a:rPr lang="en-US" sz="1200" dirty="0">
                <a:solidFill>
                  <a:schemeClr val="tx1"/>
                </a:solidFill>
              </a:rPr>
              <a:t>S K · 1 byte</a:t>
            </a:r>
            <a:endParaRPr lang="en-US" sz="1200" dirty="0"/>
          </a:p>
        </p:txBody>
      </p:sp>
      <p:sp>
        <p:nvSpPr>
          <p:cNvPr id="15" name="field-97"/>
          <p:cNvSpPr/>
          <p:nvPr/>
        </p:nvSpPr>
        <p:spPr>
          <a:xfrm>
            <a:off x="1828800" y="3438144"/>
            <a:ext cx="2651760" cy="566928"/>
          </a:xfrm>
          <a:prstGeom prst="rect">
            <a:avLst/>
          </a:prstGeom>
          <a:solidFill>
            <a:srgbClr val="E3E9F6"/>
          </a:solidFill>
          <a:ln w="12700">
            <a:solidFill>
              <a:srgbClr val="C9D1DC"/>
            </a:solidFill>
            <a:prstDash val="solid"/>
          </a:ln>
        </p:spPr>
      </p:sp>
      <p:sp>
        <p:nvSpPr>
          <p:cNvPr id="16" name="text-98"/>
          <p:cNvSpPr txBox="1"/>
          <p:nvPr/>
        </p:nvSpPr>
        <p:spPr>
          <a:xfrm>
            <a:off x="1901952" y="3438144"/>
            <a:ext cx="2505456" cy="566928"/>
          </a:xfrm>
          <a:prstGeom prst="rect">
            <a:avLst/>
          </a:prstGeom>
          <a:noFill/>
          <a:ln/>
        </p:spPr>
        <p:txBody>
          <a:bodyPr wrap="square" lIns="0" tIns="0" rIns="0" bIns="0" rtlCol="0" anchor="ctr"/>
          <a:lstStyle/>
          <a:p>
            <a:pPr algn="ctr" indent="0" marL="0">
              <a:buNone/>
            </a:pPr>
            <a:r>
              <a:rPr lang="en-US" sz="1200" dirty="0">
                <a:solidFill>
                  <a:schemeClr val="tx1"/>
                </a:solidFill>
              </a:rPr>
              <a:t>VP8 / Opus payload ≤ 1160 B</a:t>
            </a:r>
            <a:endParaRPr lang="en-US" sz="1200" dirty="0"/>
          </a:p>
        </p:txBody>
      </p:sp>
      <p:sp>
        <p:nvSpPr>
          <p:cNvPr id="17" name="field-99"/>
          <p:cNvSpPr/>
          <p:nvPr/>
        </p:nvSpPr>
        <p:spPr>
          <a:xfrm>
            <a:off x="4480560" y="3438144"/>
            <a:ext cx="1188720" cy="566928"/>
          </a:xfrm>
          <a:prstGeom prst="rect">
            <a:avLst/>
          </a:prstGeom>
          <a:solidFill>
            <a:srgbClr val="FDE3CF"/>
          </a:solidFill>
          <a:ln w="12700">
            <a:solidFill>
              <a:srgbClr val="C9D1DC"/>
            </a:solidFill>
            <a:prstDash val="solid"/>
          </a:ln>
        </p:spPr>
      </p:sp>
      <p:sp>
        <p:nvSpPr>
          <p:cNvPr id="18" name="text-100"/>
          <p:cNvSpPr txBox="1"/>
          <p:nvPr/>
        </p:nvSpPr>
        <p:spPr>
          <a:xfrm>
            <a:off x="4553712" y="3438144"/>
            <a:ext cx="1042416" cy="566928"/>
          </a:xfrm>
          <a:prstGeom prst="rect">
            <a:avLst/>
          </a:prstGeom>
          <a:noFill/>
          <a:ln/>
        </p:spPr>
        <p:txBody>
          <a:bodyPr wrap="square" lIns="0" tIns="0" rIns="0" bIns="0" rtlCol="0" anchor="ctr"/>
          <a:lstStyle/>
          <a:p>
            <a:pPr algn="ctr" indent="0" marL="0">
              <a:buNone/>
            </a:pPr>
            <a:r>
              <a:rPr lang="en-US" sz="1200" dirty="0">
                <a:solidFill>
                  <a:schemeClr val="tx1"/>
                </a:solidFill>
              </a:rPr>
              <a:t>16 B tag</a:t>
            </a:r>
            <a:endParaRPr lang="en-US" sz="1200" dirty="0"/>
          </a:p>
        </p:txBody>
      </p:sp>
      <p:sp>
        <p:nvSpPr>
          <p:cNvPr id="19" name="text-101"/>
          <p:cNvSpPr txBox="1"/>
          <p:nvPr/>
        </p:nvSpPr>
        <p:spPr>
          <a:xfrm>
            <a:off x="548640" y="4160520"/>
            <a:ext cx="5120640" cy="594360"/>
          </a:xfrm>
          <a:prstGeom prst="rect">
            <a:avLst/>
          </a:prstGeom>
          <a:noFill/>
          <a:ln/>
        </p:spPr>
        <p:txBody>
          <a:bodyPr wrap="square" lIns="0" tIns="0" rIns="0" bIns="0" rtlCol="0" anchor="t"/>
          <a:lstStyle/>
          <a:p>
            <a:pPr indent="0" marL="0">
              <a:buNone/>
            </a:pPr>
            <a:r>
              <a:rPr lang="en-US" sz="1300" dirty="0">
                <a:solidFill>
                  <a:schemeClr val="accent5"/>
                </a:solidFill>
              </a:rPr>
              <a:t>Header stays readable (needed for demultiplexing and statistics) but is authenticated; payload is encrypted.</a:t>
            </a:r>
            <a:endParaRPr lang="en-US" sz="1300" dirty="0"/>
          </a:p>
        </p:txBody>
      </p:sp>
      <p:graphicFrame>
        <p:nvGraphicFramePr>
          <p:cNvPr id="7" name="pt-table-102"/>
          <p:cNvGraphicFramePr>
            <a:graphicFrameLocks noGrp="1"/>
          </p:cNvGraphicFramePr>
          <p:nvPr>
            <p:extLst>
              <p:ext uri="{D42A27DB-BD31-4B8C-83A1-F6EECF244321}">
                <p14:modId xmlns:p14="http://schemas.microsoft.com/office/powerpoint/2010/main" val="1579011935"/>
              </p:ext>
            </p:extLst>
          </p:nvPr>
        </p:nvGraphicFramePr>
        <p:xfrm>
          <a:off x="5989320" y="1463040"/>
          <a:ext cx="5623560" cy="914400"/>
        </p:xfrm>
        <a:graphic>
          <a:graphicData uri="http://schemas.openxmlformats.org/drawingml/2006/table">
            <a:tbl>
              <a:tblPr/>
              <a:tblGrid>
                <a:gridCol w="548640"/>
                <a:gridCol w="1325880"/>
                <a:gridCol w="3749040"/>
              </a:tblGrid>
              <a:tr h="0">
                <a:tc>
                  <a:txBody>
                    <a:bodyPr/>
                    <a:lstStyle/>
                    <a:p>
                      <a:pPr indent="0" marL="0">
                        <a:buNone/>
                      </a:pPr>
                      <a:r>
                        <a:rPr lang="en-US" sz="1300" b="1" dirty="0">
                          <a:solidFill>
                            <a:srgbClr val="3D4A5C"/>
                          </a:solidFill>
                        </a:rPr>
                        <a:t>PT</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solidFill>
                      <a:srgbClr val="E3E9F6"/>
                    </a:solidFill>
                  </a:tcPr>
                </a:tc>
                <a:tc>
                  <a:txBody>
                    <a:bodyPr/>
                    <a:lstStyle/>
                    <a:p>
                      <a:pPr indent="0" marL="0">
                        <a:buNone/>
                      </a:pPr>
                      <a:r>
                        <a:rPr lang="en-US" sz="1300" b="1" dirty="0">
                          <a:solidFill>
                            <a:srgbClr val="3D4A5C"/>
                          </a:solidFill>
                        </a:rPr>
                        <a:t>Payload</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solidFill>
                      <a:srgbClr val="E3E9F6"/>
                    </a:solidFill>
                  </a:tcPr>
                </a:tc>
                <a:tc>
                  <a:txBody>
                    <a:bodyPr/>
                    <a:lstStyle/>
                    <a:p>
                      <a:pPr indent="0" marL="0">
                        <a:buNone/>
                      </a:pPr>
                      <a:r>
                        <a:rPr lang="en-US" sz="1300" b="1" dirty="0">
                          <a:solidFill>
                            <a:srgbClr val="3D4A5C"/>
                          </a:solidFill>
                        </a:rPr>
                        <a:t>Rule</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solidFill>
                      <a:srgbClr val="E3E9F6"/>
                    </a:solidFill>
                  </a:tcPr>
                </a:tc>
              </a:tr>
              <a:tr h="0">
                <a:tc>
                  <a:txBody>
                    <a:bodyPr/>
                    <a:lstStyle/>
                    <a:p>
                      <a:pPr indent="0" marL="0">
                        <a:buNone/>
                      </a:pPr>
                      <a:r>
                        <a:rPr lang="en-US" sz="1300" dirty="0">
                          <a:solidFill>
                            <a:srgbClr val="3D4A5C"/>
                          </a:solidFill>
                        </a:rPr>
                        <a:t>96</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VP8, 90 kHz</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S = first packet, M = last packet of a frame; split at 1160 B (under the MTU)</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97</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VP8 resend</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same bytes and sequence number; kept out of loss statistics</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111</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Opus, 48 kHz</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one 20 ms frame per packet; timestamp +960 each</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bl>
          </a:graphicData>
        </a:graphic>
      </p:graphicFrame>
      <p:sp>
        <p:nvSpPr>
          <p:cNvPr id="21" name="card-103"/>
          <p:cNvSpPr/>
          <p:nvPr/>
        </p:nvSpPr>
        <p:spPr>
          <a:xfrm>
            <a:off x="5989320" y="4160520"/>
            <a:ext cx="5623560" cy="1783080"/>
          </a:xfrm>
          <a:prstGeom prst="roundRect">
            <a:avLst>
              <a:gd name="adj" fmla="val 6154"/>
            </a:avLst>
          </a:prstGeom>
          <a:solidFill>
            <a:schemeClr val="bg2"/>
          </a:solidFill>
          <a:ln/>
        </p:spPr>
      </p:sp>
      <p:sp>
        <p:nvSpPr>
          <p:cNvPr id="22" name="text-104"/>
          <p:cNvSpPr txBox="1"/>
          <p:nvPr/>
        </p:nvSpPr>
        <p:spPr>
          <a:xfrm>
            <a:off x="6217920" y="4297680"/>
            <a:ext cx="5212080" cy="365760"/>
          </a:xfrm>
          <a:prstGeom prst="rect">
            <a:avLst/>
          </a:prstGeom>
          <a:noFill/>
          <a:ln/>
        </p:spPr>
        <p:txBody>
          <a:bodyPr wrap="square" lIns="0" tIns="0" rIns="0" bIns="0" rtlCol="0" anchor="t"/>
          <a:lstStyle/>
          <a:p>
            <a:pPr indent="0" marL="0">
              <a:buNone/>
            </a:pPr>
            <a:r>
              <a:rPr lang="en-US" sz="1600" b="1" dirty="0">
                <a:solidFill>
                  <a:schemeClr val="tx1"/>
                </a:solidFill>
              </a:rPr>
              <a:t>One port, demultiplexed by the first byte</a:t>
            </a:r>
            <a:endParaRPr lang="en-US" sz="1600" dirty="0"/>
          </a:p>
        </p:txBody>
      </p:sp>
      <p:sp>
        <p:nvSpPr>
          <p:cNvPr id="23" name="list-105"/>
          <p:cNvSpPr txBox="1"/>
          <p:nvPr/>
        </p:nvSpPr>
        <p:spPr>
          <a:xfrm>
            <a:off x="6217920" y="4709160"/>
            <a:ext cx="521208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2"/>
                </a:solidFill>
              </a:rPr>
              <a:t>0–3 + magic cookie → STUN</a:t>
            </a:r>
            <a:endParaRPr lang="en-US" sz="1400" dirty="0"/>
          </a:p>
          <a:p>
            <a:pPr marL="203200" indent="-203200">
              <a:spcAft>
                <a:spcPts val="600"/>
              </a:spcAft>
              <a:buSzPct val="100000"/>
              <a:buChar char="•"/>
            </a:pPr>
            <a:r>
              <a:rPr lang="en-US" sz="1400" dirty="0">
                <a:solidFill>
                  <a:schemeClr val="tx2"/>
                </a:solidFill>
              </a:rPr>
              <a:t>128–191, second byte 200–206 → RTCP (SR, NACK, PLI)</a:t>
            </a:r>
            <a:endParaRPr lang="en-US" sz="1400" dirty="0"/>
          </a:p>
          <a:p>
            <a:pPr marL="203200" indent="-203200">
              <a:spcAft>
                <a:spcPts val="600"/>
              </a:spcAft>
              <a:buSzPct val="100000"/>
              <a:buChar char="•"/>
            </a:pPr>
            <a:r>
              <a:rPr lang="en-US" sz="1400" dirty="0">
                <a:solidFill>
                  <a:schemeClr val="tx2"/>
                </a:solidFill>
              </a:rPr>
              <a:t>128–191 otherwise → RTP</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Jitter buffer: play by timestamp, not by arrival</a:t>
            </a:r>
            <a:endParaRPr lang="en-US" sz="3200" dirty="0"/>
          </a:p>
        </p:txBody>
      </p:sp>
      <p:sp>
        <p:nvSpPr>
          <p:cNvPr id="3" name="card-106"/>
          <p:cNvSpPr/>
          <p:nvPr/>
        </p:nvSpPr>
        <p:spPr>
          <a:xfrm>
            <a:off x="548640" y="1371600"/>
            <a:ext cx="11064240" cy="1234440"/>
          </a:xfrm>
          <a:prstGeom prst="roundRect">
            <a:avLst>
              <a:gd name="adj" fmla="val 8889"/>
            </a:avLst>
          </a:prstGeom>
          <a:solidFill>
            <a:schemeClr val="bg2"/>
          </a:solidFill>
          <a:ln/>
        </p:spPr>
      </p:sp>
      <p:sp>
        <p:nvSpPr>
          <p:cNvPr id="4" name="text-107"/>
          <p:cNvSpPr txBox="1"/>
          <p:nvPr/>
        </p:nvSpPr>
        <p:spPr>
          <a:xfrm>
            <a:off x="822960" y="1481328"/>
            <a:ext cx="10607040" cy="1051560"/>
          </a:xfrm>
          <a:prstGeom prst="rect">
            <a:avLst/>
          </a:prstGeom>
          <a:noFill/>
          <a:ln/>
        </p:spPr>
        <p:txBody>
          <a:bodyPr wrap="square" lIns="0" tIns="0" rIns="0" bIns="0" rtlCol="0" anchor="ctr"/>
          <a:lstStyle/>
          <a:p>
            <a:pPr indent="0" marL="0">
              <a:buNone/>
            </a:pPr>
            <a:r>
              <a:rPr lang="en-US" sz="1800" b="1" dirty="0">
                <a:solidFill>
                  <a:schemeClr val="tx1"/>
                </a:solidFill>
              </a:rPr>
              <a:t>offset = arrival − media time     →     play media time T at  T + p95(last 64 offsets)</a:t>
            </a:r>
            <a:endParaRPr lang="en-US" sz="1600" dirty="0"/>
          </a:p>
          <a:p>
            <a:pPr indent="0" marL="0">
              <a:buNone/>
            </a:pPr>
            <a:r>
              <a:rPr lang="en-US" sz="1400" dirty="0">
                <a:solidFill>
                  <a:schemeClr val="tx2"/>
                </a:solidFill>
              </a:rPr>
              <a:t>About 95 % of packets are there in time; playout follows the sender's pace. The delay grows with jitter and shrinks when the network calms down.</a:t>
            </a:r>
            <a:endParaRPr lang="en-US" sz="1600" dirty="0"/>
          </a:p>
        </p:txBody>
      </p:sp>
      <p:sp>
        <p:nvSpPr>
          <p:cNvPr id="5" name="text-108"/>
          <p:cNvSpPr txBox="1"/>
          <p:nvPr/>
        </p:nvSpPr>
        <p:spPr>
          <a:xfrm>
            <a:off x="548640" y="2880360"/>
            <a:ext cx="3474720" cy="82296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88 % → 0.1 %</a:t>
            </a:r>
            <a:endParaRPr lang="en-US" sz="4000" dirty="0"/>
          </a:p>
        </p:txBody>
      </p:sp>
      <p:sp>
        <p:nvSpPr>
          <p:cNvPr id="6" name="text-109"/>
          <p:cNvSpPr txBox="1"/>
          <p:nvPr/>
        </p:nvSpPr>
        <p:spPr>
          <a:xfrm>
            <a:off x="548640" y="3749040"/>
            <a:ext cx="3474720" cy="685800"/>
          </a:xfrm>
          <a:prstGeom prst="rect">
            <a:avLst/>
          </a:prstGeom>
          <a:noFill/>
          <a:ln/>
        </p:spPr>
        <p:txBody>
          <a:bodyPr wrap="square" lIns="0" tIns="0" rIns="0" bIns="0" rtlCol="0" anchor="t"/>
          <a:lstStyle/>
          <a:p>
            <a:pPr indent="0" marL="0">
              <a:buNone/>
            </a:pPr>
            <a:r>
              <a:rPr lang="en-US" sz="1400" dirty="0">
                <a:solidFill>
                  <a:schemeClr val="tx2"/>
                </a:solidFill>
              </a:rPr>
              <a:t>audio frames concealed at ±30 ms jitter (buffer off → on)</a:t>
            </a:r>
            <a:endParaRPr lang="en-US" sz="1400" dirty="0"/>
          </a:p>
        </p:txBody>
      </p:sp>
      <p:sp>
        <p:nvSpPr>
          <p:cNvPr id="7" name="text-110"/>
          <p:cNvSpPr txBox="1"/>
          <p:nvPr/>
        </p:nvSpPr>
        <p:spPr>
          <a:xfrm>
            <a:off x="4343400" y="2880360"/>
            <a:ext cx="3474720" cy="82296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25 → 12 ms</a:t>
            </a:r>
            <a:endParaRPr lang="en-US" sz="4000" dirty="0"/>
          </a:p>
        </p:txBody>
      </p:sp>
      <p:sp>
        <p:nvSpPr>
          <p:cNvPr id="8" name="text-111"/>
          <p:cNvSpPr txBox="1"/>
          <p:nvPr/>
        </p:nvSpPr>
        <p:spPr>
          <a:xfrm>
            <a:off x="4343400" y="3749040"/>
            <a:ext cx="3474720" cy="685800"/>
          </a:xfrm>
          <a:prstGeom prst="rect">
            <a:avLst/>
          </a:prstGeom>
          <a:noFill/>
          <a:ln/>
        </p:spPr>
        <p:txBody>
          <a:bodyPr wrap="square" lIns="0" tIns="0" rIns="0" bIns="0" rtlCol="0" anchor="t"/>
          <a:lstStyle/>
          <a:p>
            <a:pPr indent="0" marL="0">
              <a:buNone/>
            </a:pPr>
            <a:r>
              <a:rPr lang="en-US" sz="1400" dirty="0">
                <a:solidFill>
                  <a:schemeClr val="tx2"/>
                </a:solidFill>
              </a:rPr>
              <a:t>spread of video frame intervals (playout smoothness)</a:t>
            </a:r>
            <a:endParaRPr lang="en-US" sz="1400" dirty="0"/>
          </a:p>
        </p:txBody>
      </p:sp>
      <p:sp>
        <p:nvSpPr>
          <p:cNvPr id="9" name="text-112"/>
          <p:cNvSpPr txBox="1"/>
          <p:nvPr/>
        </p:nvSpPr>
        <p:spPr>
          <a:xfrm>
            <a:off x="8138160" y="2880360"/>
            <a:ext cx="3474720" cy="822960"/>
          </a:xfrm>
          <a:prstGeom prst="rect">
            <a:avLst/>
          </a:prstGeom>
          <a:noFill/>
          <a:ln/>
        </p:spPr>
        <p:txBody>
          <a:bodyPr wrap="square" lIns="0" tIns="0" rIns="0" bIns="0" rtlCol="0" anchor="b"/>
          <a:lstStyle/>
          <a:p>
            <a:pPr indent="0" marL="0">
              <a:buNone/>
            </a:pPr>
            <a:r>
              <a:rPr lang="en-US" sz="4000" b="1" dirty="0">
                <a:solidFill>
                  <a:srgbClr val="2F5BB5"/>
                </a:solidFill>
                <a:latin typeface="Cambria" pitchFamily="34" charset="0"/>
                <a:ea typeface="Cambria" pitchFamily="34" charset="-122"/>
                <a:cs typeface="Cambria" pitchFamily="34" charset="-120"/>
              </a:rPr>
              <a:t>+140 ms</a:t>
            </a:r>
            <a:endParaRPr lang="en-US" sz="4000" dirty="0"/>
          </a:p>
        </p:txBody>
      </p:sp>
      <p:sp>
        <p:nvSpPr>
          <p:cNvPr id="10" name="text-113"/>
          <p:cNvSpPr txBox="1"/>
          <p:nvPr/>
        </p:nvSpPr>
        <p:spPr>
          <a:xfrm>
            <a:off x="8138160" y="3749040"/>
            <a:ext cx="3474720" cy="685800"/>
          </a:xfrm>
          <a:prstGeom prst="rect">
            <a:avLst/>
          </a:prstGeom>
          <a:noFill/>
          <a:ln/>
        </p:spPr>
        <p:txBody>
          <a:bodyPr wrap="square" lIns="0" tIns="0" rIns="0" bIns="0" rtlCol="0" anchor="t"/>
          <a:lstStyle/>
          <a:p>
            <a:pPr indent="0" marL="0">
              <a:buNone/>
            </a:pPr>
            <a:r>
              <a:rPr lang="en-US" sz="1400" dirty="0">
                <a:solidFill>
                  <a:schemeClr val="tx2"/>
                </a:solidFill>
              </a:rPr>
              <a:t>the price: extra delay the buffer adds at ±30 ms (≈ 27 ms on a clean link)</a:t>
            </a:r>
            <a:endParaRPr lang="en-US" sz="1400" dirty="0"/>
          </a:p>
        </p:txBody>
      </p:sp>
      <p:graphicFrame>
        <p:nvGraphicFramePr>
          <p:cNvPr id="11" name="jb-chart-114" descr=""/>
          <p:cNvGraphicFramePr/>
          <p:nvPr/>
        </p:nvGraphicFramePr>
        <p:xfrm>
          <a:off x="548640" y="4572000"/>
          <a:ext cx="11064240" cy="16916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Loss repair: resend it, rebuild it, or hide it</a:t>
            </a:r>
            <a:endParaRPr lang="en-US" sz="3200" dirty="0"/>
          </a:p>
        </p:txBody>
      </p:sp>
      <p:sp>
        <p:nvSpPr>
          <p:cNvPr id="3" name="card-115"/>
          <p:cNvSpPr/>
          <p:nvPr/>
        </p:nvSpPr>
        <p:spPr>
          <a:xfrm>
            <a:off x="548640" y="1417320"/>
            <a:ext cx="2606040" cy="3383280"/>
          </a:xfrm>
          <a:prstGeom prst="roundRect">
            <a:avLst>
              <a:gd name="adj" fmla="val 4211"/>
            </a:avLst>
          </a:prstGeom>
          <a:solidFill>
            <a:schemeClr val="bg2"/>
          </a:solidFill>
          <a:ln/>
        </p:spPr>
      </p:sp>
      <p:sp>
        <p:nvSpPr>
          <p:cNvPr id="4" name="badge-116"/>
          <p:cNvSpPr/>
          <p:nvPr/>
        </p:nvSpPr>
        <p:spPr>
          <a:xfrm>
            <a:off x="777240" y="1600200"/>
            <a:ext cx="438912" cy="438912"/>
          </a:xfrm>
          <a:prstGeom prst="ellipse">
            <a:avLst/>
          </a:prstGeom>
          <a:solidFill>
            <a:schemeClr val="accent1"/>
          </a:solidFill>
          <a:ln/>
        </p:spPr>
      </p:sp>
      <p:sp>
        <p:nvSpPr>
          <p:cNvPr id="5" name="badge-text-117"/>
          <p:cNvSpPr txBox="1"/>
          <p:nvPr/>
        </p:nvSpPr>
        <p:spPr>
          <a:xfrm>
            <a:off x="77724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118"/>
          <p:cNvSpPr txBox="1"/>
          <p:nvPr/>
        </p:nvSpPr>
        <p:spPr>
          <a:xfrm>
            <a:off x="777240" y="2194560"/>
            <a:ext cx="2194560" cy="411480"/>
          </a:xfrm>
          <a:prstGeom prst="rect">
            <a:avLst/>
          </a:prstGeom>
          <a:noFill/>
          <a:ln/>
        </p:spPr>
        <p:txBody>
          <a:bodyPr wrap="square" lIns="0" tIns="0" rIns="0" bIns="0" rtlCol="0" anchor="t"/>
          <a:lstStyle/>
          <a:p>
            <a:pPr indent="0" marL="0">
              <a:buNone/>
            </a:pPr>
            <a:r>
              <a:rPr lang="en-US" sz="1900" b="1" dirty="0">
                <a:solidFill>
                  <a:schemeClr val="tx1"/>
                </a:solidFill>
              </a:rPr>
              <a:t>NACK</a:t>
            </a:r>
            <a:endParaRPr lang="en-US" sz="1900" dirty="0"/>
          </a:p>
        </p:txBody>
      </p:sp>
      <p:sp>
        <p:nvSpPr>
          <p:cNvPr id="7" name="text-119"/>
          <p:cNvSpPr txBox="1"/>
          <p:nvPr/>
        </p:nvSpPr>
        <p:spPr>
          <a:xfrm>
            <a:off x="777240" y="2651760"/>
            <a:ext cx="2194560" cy="2057400"/>
          </a:xfrm>
          <a:prstGeom prst="rect">
            <a:avLst/>
          </a:prstGeom>
          <a:noFill/>
          <a:ln/>
        </p:spPr>
        <p:txBody>
          <a:bodyPr wrap="square" lIns="0" tIns="0" rIns="0" bIns="0" rtlCol="0" anchor="t"/>
          <a:lstStyle/>
          <a:p>
            <a:pPr indent="0" marL="0">
              <a:buNone/>
            </a:pPr>
            <a:r>
              <a:rPr lang="en-US" sz="1400" dirty="0">
                <a:solidFill>
                  <a:schemeClr val="tx2"/>
                </a:solidFill>
              </a:rPr>
              <a:t>Sequence gap → ask for exactly the missing packets (ID + 16-bit mask). Resent every 1.5 × RTT, max 4 tries: selective repeat with a deadline.</a:t>
            </a:r>
            <a:endParaRPr lang="en-US" sz="1400" dirty="0"/>
          </a:p>
        </p:txBody>
      </p:sp>
      <p:sp>
        <p:nvSpPr>
          <p:cNvPr id="8" name="card-120"/>
          <p:cNvSpPr/>
          <p:nvPr/>
        </p:nvSpPr>
        <p:spPr>
          <a:xfrm>
            <a:off x="3383280" y="1417320"/>
            <a:ext cx="2606040" cy="3383280"/>
          </a:xfrm>
          <a:prstGeom prst="roundRect">
            <a:avLst>
              <a:gd name="adj" fmla="val 4211"/>
            </a:avLst>
          </a:prstGeom>
          <a:solidFill>
            <a:schemeClr val="bg2"/>
          </a:solidFill>
          <a:ln/>
        </p:spPr>
      </p:sp>
      <p:sp>
        <p:nvSpPr>
          <p:cNvPr id="9" name="badge-121"/>
          <p:cNvSpPr/>
          <p:nvPr/>
        </p:nvSpPr>
        <p:spPr>
          <a:xfrm>
            <a:off x="3611880" y="1600200"/>
            <a:ext cx="438912" cy="438912"/>
          </a:xfrm>
          <a:prstGeom prst="ellipse">
            <a:avLst/>
          </a:prstGeom>
          <a:solidFill>
            <a:schemeClr val="accent1"/>
          </a:solidFill>
          <a:ln/>
        </p:spPr>
      </p:sp>
      <p:sp>
        <p:nvSpPr>
          <p:cNvPr id="10" name="badge-text-122"/>
          <p:cNvSpPr txBox="1"/>
          <p:nvPr/>
        </p:nvSpPr>
        <p:spPr>
          <a:xfrm>
            <a:off x="361188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123"/>
          <p:cNvSpPr txBox="1"/>
          <p:nvPr/>
        </p:nvSpPr>
        <p:spPr>
          <a:xfrm>
            <a:off x="3611880" y="2194560"/>
            <a:ext cx="2194560" cy="411480"/>
          </a:xfrm>
          <a:prstGeom prst="rect">
            <a:avLst/>
          </a:prstGeom>
          <a:noFill/>
          <a:ln/>
        </p:spPr>
        <p:txBody>
          <a:bodyPr wrap="square" lIns="0" tIns="0" rIns="0" bIns="0" rtlCol="0" anchor="t"/>
          <a:lstStyle/>
          <a:p>
            <a:pPr indent="0" marL="0">
              <a:buNone/>
            </a:pPr>
            <a:r>
              <a:rPr lang="en-US" sz="1900" b="1" dirty="0">
                <a:solidFill>
                  <a:schemeClr val="tx1"/>
                </a:solidFill>
              </a:rPr>
              <a:t>Resend</a:t>
            </a:r>
            <a:endParaRPr lang="en-US" sz="1900" dirty="0"/>
          </a:p>
        </p:txBody>
      </p:sp>
      <p:sp>
        <p:nvSpPr>
          <p:cNvPr id="12" name="text-124"/>
          <p:cNvSpPr txBox="1"/>
          <p:nvPr/>
        </p:nvSpPr>
        <p:spPr>
          <a:xfrm>
            <a:off x="3611880" y="2651760"/>
            <a:ext cx="2194560" cy="2057400"/>
          </a:xfrm>
          <a:prstGeom prst="rect">
            <a:avLst/>
          </a:prstGeom>
          <a:noFill/>
          <a:ln/>
        </p:spPr>
        <p:txBody>
          <a:bodyPr wrap="square" lIns="0" tIns="0" rIns="0" bIns="0" rtlCol="0" anchor="t"/>
          <a:lstStyle/>
          <a:p>
            <a:pPr indent="0" marL="0">
              <a:buNone/>
            </a:pPr>
            <a:r>
              <a:rPr lang="en-US" sz="1400" dirty="0">
                <a:solidFill>
                  <a:schemeClr val="tx2"/>
                </a:solidFill>
              </a:rPr>
              <a:t>Sender keeps the last 1024 video packets and resends them as PT 97, so loss statistics show the network, not the repair.</a:t>
            </a:r>
            <a:endParaRPr lang="en-US" sz="1400" dirty="0"/>
          </a:p>
        </p:txBody>
      </p:sp>
      <p:sp>
        <p:nvSpPr>
          <p:cNvPr id="13" name="card-125"/>
          <p:cNvSpPr/>
          <p:nvPr/>
        </p:nvSpPr>
        <p:spPr>
          <a:xfrm>
            <a:off x="6217920" y="1417320"/>
            <a:ext cx="2606040" cy="3383280"/>
          </a:xfrm>
          <a:prstGeom prst="roundRect">
            <a:avLst>
              <a:gd name="adj" fmla="val 4211"/>
            </a:avLst>
          </a:prstGeom>
          <a:solidFill>
            <a:schemeClr val="bg2"/>
          </a:solidFill>
          <a:ln/>
        </p:spPr>
      </p:sp>
      <p:sp>
        <p:nvSpPr>
          <p:cNvPr id="14" name="badge-126"/>
          <p:cNvSpPr/>
          <p:nvPr/>
        </p:nvSpPr>
        <p:spPr>
          <a:xfrm>
            <a:off x="6446520" y="1600200"/>
            <a:ext cx="438912" cy="438912"/>
          </a:xfrm>
          <a:prstGeom prst="ellipse">
            <a:avLst/>
          </a:prstGeom>
          <a:solidFill>
            <a:schemeClr val="accent1"/>
          </a:solidFill>
          <a:ln/>
        </p:spPr>
      </p:sp>
      <p:sp>
        <p:nvSpPr>
          <p:cNvPr id="15" name="badge-text-127"/>
          <p:cNvSpPr txBox="1"/>
          <p:nvPr/>
        </p:nvSpPr>
        <p:spPr>
          <a:xfrm>
            <a:off x="644652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128"/>
          <p:cNvSpPr txBox="1"/>
          <p:nvPr/>
        </p:nvSpPr>
        <p:spPr>
          <a:xfrm>
            <a:off x="6446520" y="2194560"/>
            <a:ext cx="2194560" cy="411480"/>
          </a:xfrm>
          <a:prstGeom prst="rect">
            <a:avLst/>
          </a:prstGeom>
          <a:noFill/>
          <a:ln/>
        </p:spPr>
        <p:txBody>
          <a:bodyPr wrap="square" lIns="0" tIns="0" rIns="0" bIns="0" rtlCol="0" anchor="t"/>
          <a:lstStyle/>
          <a:p>
            <a:pPr indent="0" marL="0">
              <a:buNone/>
            </a:pPr>
            <a:r>
              <a:rPr lang="en-US" sz="1900" b="1" dirty="0">
                <a:solidFill>
                  <a:schemeClr val="tx1"/>
                </a:solidFill>
              </a:rPr>
              <a:t>Keyframe</a:t>
            </a:r>
            <a:endParaRPr lang="en-US" sz="1900" dirty="0"/>
          </a:p>
        </p:txBody>
      </p:sp>
      <p:sp>
        <p:nvSpPr>
          <p:cNvPr id="17" name="text-129"/>
          <p:cNvSpPr txBox="1"/>
          <p:nvPr/>
        </p:nvSpPr>
        <p:spPr>
          <a:xfrm>
            <a:off x="6446520" y="2651760"/>
            <a:ext cx="2194560" cy="2057400"/>
          </a:xfrm>
          <a:prstGeom prst="rect">
            <a:avLst/>
          </a:prstGeom>
          <a:noFill/>
          <a:ln/>
        </p:spPr>
        <p:txBody>
          <a:bodyPr wrap="square" lIns="0" tIns="0" rIns="0" bIns="0" rtlCol="0" anchor="t"/>
          <a:lstStyle/>
          <a:p>
            <a:pPr indent="0" marL="0">
              <a:buNone/>
            </a:pPr>
            <a:r>
              <a:rPr lang="en-US" sz="1400" dirty="0">
                <a:solidFill>
                  <a:schemeClr val="tx2"/>
                </a:solidFill>
              </a:rPr>
              <a:t>Not repaired in time → skip the frame; later frames depend on it, so request a keyframe (PLI). Seen as a freeze.</a:t>
            </a:r>
            <a:endParaRPr lang="en-US" sz="1400" dirty="0"/>
          </a:p>
        </p:txBody>
      </p:sp>
      <p:sp>
        <p:nvSpPr>
          <p:cNvPr id="18" name="card-130"/>
          <p:cNvSpPr/>
          <p:nvPr/>
        </p:nvSpPr>
        <p:spPr>
          <a:xfrm>
            <a:off x="9052560" y="1417320"/>
            <a:ext cx="2606040" cy="3383280"/>
          </a:xfrm>
          <a:prstGeom prst="roundRect">
            <a:avLst>
              <a:gd name="adj" fmla="val 4211"/>
            </a:avLst>
          </a:prstGeom>
          <a:solidFill>
            <a:schemeClr val="bg2"/>
          </a:solidFill>
          <a:ln/>
        </p:spPr>
      </p:sp>
      <p:sp>
        <p:nvSpPr>
          <p:cNvPr id="19" name="badge-131"/>
          <p:cNvSpPr/>
          <p:nvPr/>
        </p:nvSpPr>
        <p:spPr>
          <a:xfrm>
            <a:off x="9281160" y="1600200"/>
            <a:ext cx="438912" cy="438912"/>
          </a:xfrm>
          <a:prstGeom prst="ellipse">
            <a:avLst/>
          </a:prstGeom>
          <a:solidFill>
            <a:schemeClr val="accent1"/>
          </a:solidFill>
          <a:ln/>
        </p:spPr>
      </p:sp>
      <p:sp>
        <p:nvSpPr>
          <p:cNvPr id="20" name="badge-text-132"/>
          <p:cNvSpPr txBox="1"/>
          <p:nvPr/>
        </p:nvSpPr>
        <p:spPr>
          <a:xfrm>
            <a:off x="928116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133"/>
          <p:cNvSpPr txBox="1"/>
          <p:nvPr/>
        </p:nvSpPr>
        <p:spPr>
          <a:xfrm>
            <a:off x="9281160" y="2194560"/>
            <a:ext cx="2194560" cy="411480"/>
          </a:xfrm>
          <a:prstGeom prst="rect">
            <a:avLst/>
          </a:prstGeom>
          <a:noFill/>
          <a:ln/>
        </p:spPr>
        <p:txBody>
          <a:bodyPr wrap="square" lIns="0" tIns="0" rIns="0" bIns="0" rtlCol="0" anchor="t"/>
          <a:lstStyle/>
          <a:p>
            <a:pPr indent="0" marL="0">
              <a:buNone/>
            </a:pPr>
            <a:r>
              <a:rPr lang="en-US" sz="1900" b="1" dirty="0">
                <a:solidFill>
                  <a:schemeClr val="tx1"/>
                </a:solidFill>
              </a:rPr>
              <a:t>FEC / PLC</a:t>
            </a:r>
            <a:endParaRPr lang="en-US" sz="1900" dirty="0"/>
          </a:p>
        </p:txBody>
      </p:sp>
      <p:sp>
        <p:nvSpPr>
          <p:cNvPr id="22" name="text-134"/>
          <p:cNvSpPr txBox="1"/>
          <p:nvPr/>
        </p:nvSpPr>
        <p:spPr>
          <a:xfrm>
            <a:off x="9281160" y="2651760"/>
            <a:ext cx="2194560" cy="2057400"/>
          </a:xfrm>
          <a:prstGeom prst="rect">
            <a:avLst/>
          </a:prstGeom>
          <a:noFill/>
          <a:ln/>
        </p:spPr>
        <p:txBody>
          <a:bodyPr wrap="square" lIns="0" tIns="0" rIns="0" bIns="0" rtlCol="0" anchor="t"/>
          <a:lstStyle/>
          <a:p>
            <a:pPr indent="0" marL="0">
              <a:buNone/>
            </a:pPr>
            <a:r>
              <a:rPr lang="en-US" sz="1400" dirty="0">
                <a:solidFill>
                  <a:schemeClr val="tx2"/>
                </a:solidFill>
              </a:rPr>
              <a:t>Lost audio is rebuilt from the copy inside the next packet (Opus FEC), otherwise extrapolated (packet loss concealment).</a:t>
            </a:r>
            <a:endParaRPr lang="en-US" sz="1400" dirty="0"/>
          </a:p>
        </p:txBody>
      </p:sp>
      <p:sp>
        <p:nvSpPr>
          <p:cNvPr id="23" name="text-135"/>
          <p:cNvSpPr txBox="1"/>
          <p:nvPr/>
        </p:nvSpPr>
        <p:spPr>
          <a:xfrm>
            <a:off x="548640" y="4892040"/>
            <a:ext cx="5486400" cy="82296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 freezes</a:t>
            </a:r>
            <a:endParaRPr lang="en-US" sz="4000" dirty="0"/>
          </a:p>
        </p:txBody>
      </p:sp>
      <p:sp>
        <p:nvSpPr>
          <p:cNvPr id="24" name="text-136"/>
          <p:cNvSpPr txBox="1"/>
          <p:nvPr/>
        </p:nvSpPr>
        <p:spPr>
          <a:xfrm>
            <a:off x="548640" y="5760720"/>
            <a:ext cx="5486400" cy="685800"/>
          </a:xfrm>
          <a:prstGeom prst="rect">
            <a:avLst/>
          </a:prstGeom>
          <a:noFill/>
          <a:ln/>
        </p:spPr>
        <p:txBody>
          <a:bodyPr wrap="square" lIns="0" tIns="0" rIns="0" bIns="0" rtlCol="0" anchor="t"/>
          <a:lstStyle/>
          <a:p>
            <a:pPr indent="0" marL="0">
              <a:buNone/>
            </a:pPr>
            <a:r>
              <a:rPr lang="en-US" sz="1400" dirty="0">
                <a:solidFill>
                  <a:schemeClr val="tx2"/>
                </a:solidFill>
              </a:rPr>
              <a:t>with up to 5 % random loss (≤ 0.4 % of audio concealed)</a:t>
            </a:r>
            <a:endParaRPr lang="en-US" sz="1400" dirty="0"/>
          </a:p>
        </p:txBody>
      </p:sp>
      <p:sp>
        <p:nvSpPr>
          <p:cNvPr id="25" name="text-137"/>
          <p:cNvSpPr txBox="1"/>
          <p:nvPr/>
        </p:nvSpPr>
        <p:spPr>
          <a:xfrm>
            <a:off x="6172200" y="4892040"/>
            <a:ext cx="5486400" cy="822960"/>
          </a:xfrm>
          <a:prstGeom prst="rect">
            <a:avLst/>
          </a:prstGeom>
          <a:noFill/>
          <a:ln/>
        </p:spPr>
        <p:txBody>
          <a:bodyPr wrap="square" lIns="0" tIns="0" rIns="0" bIns="0" rtlCol="0" anchor="b"/>
          <a:lstStyle/>
          <a:p>
            <a:pPr indent="0" marL="0">
              <a:buNone/>
            </a:pPr>
            <a:r>
              <a:rPr lang="en-US" sz="4000" b="1" dirty="0">
                <a:solidFill>
                  <a:srgbClr val="2F5BB5"/>
                </a:solidFill>
                <a:latin typeface="Cambria" pitchFamily="34" charset="0"/>
                <a:ea typeface="Cambria" pitchFamily="34" charset="-122"/>
                <a:cs typeface="Cambria" pitchFamily="34" charset="-120"/>
              </a:rPr>
              <a:t>23 → 15</a:t>
            </a:r>
            <a:endParaRPr lang="en-US" sz="4000" dirty="0"/>
          </a:p>
        </p:txBody>
      </p:sp>
      <p:sp>
        <p:nvSpPr>
          <p:cNvPr id="26" name="text-138"/>
          <p:cNvSpPr txBox="1"/>
          <p:nvPr/>
        </p:nvSpPr>
        <p:spPr>
          <a:xfrm>
            <a:off x="6172200" y="5760720"/>
            <a:ext cx="5486400" cy="685800"/>
          </a:xfrm>
          <a:prstGeom prst="rect">
            <a:avLst/>
          </a:prstGeom>
          <a:noFill/>
          <a:ln/>
        </p:spPr>
        <p:txBody>
          <a:bodyPr wrap="square" lIns="0" tIns="0" rIns="0" bIns="0" rtlCol="0" anchor="t"/>
          <a:lstStyle/>
          <a:p>
            <a:pPr indent="0" marL="0">
              <a:buNone/>
            </a:pPr>
            <a:r>
              <a:rPr lang="en-US" sz="1400" dirty="0">
                <a:solidFill>
                  <a:schemeClr val="tx2"/>
                </a:solidFill>
              </a:rPr>
              <a:t>freezes at 20 % loss, rate control off → on (smaller frames, fewer packets to lose)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Rate control: AIMD driven by receiver reports</a:t>
            </a:r>
            <a:endParaRPr lang="en-US" sz="3200" dirty="0"/>
          </a:p>
        </p:txBody>
      </p:sp>
      <p:graphicFrame>
        <p:nvGraphicFramePr>
          <p:cNvPr id="3" name="ladder-139" descr=""/>
          <p:cNvGraphicFramePr/>
          <p:nvPr/>
        </p:nvGraphicFramePr>
        <p:xfrm>
          <a:off x="548640" y="1371600"/>
          <a:ext cx="5486400" cy="4663440"/>
        </p:xfrm>
        <a:graphic xmlns:a="http://schemas.openxmlformats.org/drawingml/2006/main">
          <a:graphicData uri="http://schemas.openxmlformats.org/drawingml/2006/chart">
            <c:chart xmlns:c="http://schemas.openxmlformats.org/drawingml/2006/chart" r:id="rId1"/>
          </a:graphicData>
        </a:graphic>
      </p:graphicFrame>
      <p:sp>
        <p:nvSpPr>
          <p:cNvPr id="4" name="badge-140"/>
          <p:cNvSpPr/>
          <p:nvPr/>
        </p:nvSpPr>
        <p:spPr>
          <a:xfrm>
            <a:off x="6355080" y="1463040"/>
            <a:ext cx="438912" cy="438912"/>
          </a:xfrm>
          <a:prstGeom prst="ellipse">
            <a:avLst/>
          </a:prstGeom>
          <a:solidFill>
            <a:schemeClr val="accent1"/>
          </a:solidFill>
          <a:ln/>
        </p:spPr>
      </p:sp>
      <p:sp>
        <p:nvSpPr>
          <p:cNvPr id="5" name="badge-text-141"/>
          <p:cNvSpPr txBox="1"/>
          <p:nvPr/>
        </p:nvSpPr>
        <p:spPr>
          <a:xfrm>
            <a:off x="6355080" y="14630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6" name="text-142"/>
          <p:cNvSpPr txBox="1"/>
          <p:nvPr/>
        </p:nvSpPr>
        <p:spPr>
          <a:xfrm>
            <a:off x="6949440" y="1444752"/>
            <a:ext cx="4663440" cy="1005840"/>
          </a:xfrm>
          <a:prstGeom prst="rect">
            <a:avLst/>
          </a:prstGeom>
          <a:noFill/>
          <a:ln/>
        </p:spPr>
        <p:txBody>
          <a:bodyPr wrap="square" lIns="0" tIns="0" rIns="0" bIns="0" rtlCol="0" anchor="t"/>
          <a:lstStyle/>
          <a:p>
            <a:pPr indent="0" marL="0">
              <a:buNone/>
            </a:pPr>
            <a:r>
              <a:rPr lang="en-US" sz="1500" dirty="0">
                <a:solidFill>
                  <a:schemeClr val="tx2"/>
                </a:solidFill>
              </a:rPr>
              <a:t>Congestion: loss &gt; 8 % or queuing delay &gt; 120 ms → drop two levels (multiplicative decrease)</a:t>
            </a:r>
            <a:endParaRPr lang="en-US" sz="1500" dirty="0"/>
          </a:p>
        </p:txBody>
      </p:sp>
      <p:sp>
        <p:nvSpPr>
          <p:cNvPr id="7" name="badge-143"/>
          <p:cNvSpPr/>
          <p:nvPr/>
        </p:nvSpPr>
        <p:spPr>
          <a:xfrm>
            <a:off x="6355080" y="2606040"/>
            <a:ext cx="438912" cy="438912"/>
          </a:xfrm>
          <a:prstGeom prst="ellipse">
            <a:avLst/>
          </a:prstGeom>
          <a:solidFill>
            <a:schemeClr val="accent1"/>
          </a:solidFill>
          <a:ln/>
        </p:spPr>
      </p:sp>
      <p:sp>
        <p:nvSpPr>
          <p:cNvPr id="8" name="badge-text-144"/>
          <p:cNvSpPr txBox="1"/>
          <p:nvPr/>
        </p:nvSpPr>
        <p:spPr>
          <a:xfrm>
            <a:off x="6355080" y="26060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145"/>
          <p:cNvSpPr txBox="1"/>
          <p:nvPr/>
        </p:nvSpPr>
        <p:spPr>
          <a:xfrm>
            <a:off x="6949440" y="2587752"/>
            <a:ext cx="4663440" cy="1005840"/>
          </a:xfrm>
          <a:prstGeom prst="rect">
            <a:avLst/>
          </a:prstGeom>
          <a:noFill/>
          <a:ln/>
        </p:spPr>
        <p:txBody>
          <a:bodyPr wrap="square" lIns="0" tIns="0" rIns="0" bIns="0" rtlCol="0" anchor="t"/>
          <a:lstStyle/>
          <a:p>
            <a:pPr indent="0" marL="0">
              <a:buNone/>
            </a:pPr>
            <a:r>
              <a:rPr lang="en-US" sz="1500" dirty="0">
                <a:solidFill>
                  <a:schemeClr val="tx2"/>
                </a:solidFill>
              </a:rPr>
              <a:t>Clean: loss &lt; 2 % and queuing delay &lt; 40 ms, three reports in a row → climb one level (additive increase)</a:t>
            </a:r>
            <a:endParaRPr lang="en-US" sz="1500" dirty="0"/>
          </a:p>
        </p:txBody>
      </p:sp>
      <p:sp>
        <p:nvSpPr>
          <p:cNvPr id="10" name="badge-146"/>
          <p:cNvSpPr/>
          <p:nvPr/>
        </p:nvSpPr>
        <p:spPr>
          <a:xfrm>
            <a:off x="6355080" y="3749040"/>
            <a:ext cx="438912" cy="438912"/>
          </a:xfrm>
          <a:prstGeom prst="ellipse">
            <a:avLst/>
          </a:prstGeom>
          <a:solidFill>
            <a:schemeClr val="accent2"/>
          </a:solidFill>
          <a:ln/>
        </p:spPr>
      </p:sp>
      <p:sp>
        <p:nvSpPr>
          <p:cNvPr id="11" name="badge-text-147"/>
          <p:cNvSpPr txBox="1"/>
          <p:nvPr/>
        </p:nvSpPr>
        <p:spPr>
          <a:xfrm>
            <a:off x="6355080" y="37490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Δ</a:t>
            </a:r>
            <a:endParaRPr lang="en-US" sz="1500" dirty="0"/>
          </a:p>
        </p:txBody>
      </p:sp>
      <p:sp>
        <p:nvSpPr>
          <p:cNvPr id="12" name="text-148"/>
          <p:cNvSpPr txBox="1"/>
          <p:nvPr/>
        </p:nvSpPr>
        <p:spPr>
          <a:xfrm>
            <a:off x="6949440" y="3730752"/>
            <a:ext cx="4663440" cy="1005840"/>
          </a:xfrm>
          <a:prstGeom prst="rect">
            <a:avLst/>
          </a:prstGeom>
          <a:noFill/>
          <a:ln/>
        </p:spPr>
        <p:txBody>
          <a:bodyPr wrap="square" lIns="0" tIns="0" rIns="0" bIns="0" rtlCol="0" anchor="t"/>
          <a:lstStyle/>
          <a:p>
            <a:pPr indent="0" marL="0">
              <a:buNone/>
            </a:pPr>
            <a:r>
              <a:rPr lang="en-US" sz="1500" dirty="0">
                <a:solidFill>
                  <a:schemeClr val="tx2"/>
                </a:solidFill>
              </a:rPr>
              <a:t>Queuing delay = smoothed RTT − its 10 s minimum, capped 250 ms above the best ever (delay-based, like BBR / GCC)</a:t>
            </a:r>
            <a:endParaRPr lang="en-US" sz="1500" dirty="0"/>
          </a:p>
        </p:txBody>
      </p:sp>
      <p:sp>
        <p:nvSpPr>
          <p:cNvPr id="13" name="badge-149"/>
          <p:cNvSpPr/>
          <p:nvPr/>
        </p:nvSpPr>
        <p:spPr>
          <a:xfrm>
            <a:off x="6355080" y="4892040"/>
            <a:ext cx="438912" cy="438912"/>
          </a:xfrm>
          <a:prstGeom prst="ellipse">
            <a:avLst/>
          </a:prstGeom>
          <a:solidFill>
            <a:schemeClr val="accent2"/>
          </a:solidFill>
          <a:ln/>
        </p:spPr>
      </p:sp>
      <p:sp>
        <p:nvSpPr>
          <p:cNvPr id="14" name="badge-text-150"/>
          <p:cNvSpPr txBox="1"/>
          <p:nvPr/>
        </p:nvSpPr>
        <p:spPr>
          <a:xfrm>
            <a:off x="6355080" y="48920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S</a:t>
            </a:r>
            <a:endParaRPr lang="en-US" sz="1500" dirty="0"/>
          </a:p>
        </p:txBody>
      </p:sp>
      <p:sp>
        <p:nvSpPr>
          <p:cNvPr id="15" name="text-151"/>
          <p:cNvSpPr txBox="1"/>
          <p:nvPr/>
        </p:nvSpPr>
        <p:spPr>
          <a:xfrm>
            <a:off x="6949440" y="4873752"/>
            <a:ext cx="4663440" cy="1005840"/>
          </a:xfrm>
          <a:prstGeom prst="rect">
            <a:avLst/>
          </a:prstGeom>
          <a:noFill/>
          <a:ln/>
        </p:spPr>
        <p:txBody>
          <a:bodyPr wrap="square" lIns="0" tIns="0" rIns="0" bIns="0" rtlCol="0" anchor="t"/>
          <a:lstStyle/>
          <a:p>
            <a:pPr indent="0" marL="0">
              <a:buNone/>
            </a:pPr>
            <a:r>
              <a:rPr lang="en-US" sz="1500" dirty="0">
                <a:solidFill>
                  <a:schemeClr val="tx2"/>
                </a:solidFill>
              </a:rPr>
              <a:t>Slow start at 300 kbps; feedback starvation: no report for 2.5 s = stuck in the queue = back off</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End-to-end encryption: the server can never see the media</a:t>
            </a:r>
            <a:endParaRPr lang="en-US" sz="3200" dirty="0"/>
          </a:p>
        </p:txBody>
      </p:sp>
      <p:sp>
        <p:nvSpPr>
          <p:cNvPr id="3" name="card-152"/>
          <p:cNvSpPr/>
          <p:nvPr/>
        </p:nvSpPr>
        <p:spPr>
          <a:xfrm>
            <a:off x="548640" y="1417320"/>
            <a:ext cx="3520440" cy="2468880"/>
          </a:xfrm>
          <a:prstGeom prst="roundRect">
            <a:avLst>
              <a:gd name="adj" fmla="val 4444"/>
            </a:avLst>
          </a:prstGeom>
          <a:solidFill>
            <a:schemeClr val="bg2"/>
          </a:solidFill>
          <a:ln/>
        </p:spPr>
      </p:sp>
      <p:sp>
        <p:nvSpPr>
          <p:cNvPr id="4" name="badge-153"/>
          <p:cNvSpPr/>
          <p:nvPr/>
        </p:nvSpPr>
        <p:spPr>
          <a:xfrm>
            <a:off x="777240" y="1600200"/>
            <a:ext cx="438912" cy="438912"/>
          </a:xfrm>
          <a:prstGeom prst="ellipse">
            <a:avLst/>
          </a:prstGeom>
          <a:solidFill>
            <a:schemeClr val="accent2"/>
          </a:solidFill>
          <a:ln/>
        </p:spPr>
      </p:sp>
      <p:sp>
        <p:nvSpPr>
          <p:cNvPr id="5" name="badge-text-154"/>
          <p:cNvSpPr txBox="1"/>
          <p:nvPr/>
        </p:nvSpPr>
        <p:spPr>
          <a:xfrm>
            <a:off x="77724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155"/>
          <p:cNvSpPr txBox="1"/>
          <p:nvPr/>
        </p:nvSpPr>
        <p:spPr>
          <a:xfrm>
            <a:off x="777240" y="2148840"/>
            <a:ext cx="3108960" cy="411480"/>
          </a:xfrm>
          <a:prstGeom prst="rect">
            <a:avLst/>
          </a:prstGeom>
          <a:noFill/>
          <a:ln/>
        </p:spPr>
        <p:txBody>
          <a:bodyPr wrap="square" lIns="0" tIns="0" rIns="0" bIns="0" rtlCol="0" anchor="t"/>
          <a:lstStyle/>
          <a:p>
            <a:pPr indent="0" marL="0">
              <a:buNone/>
            </a:pPr>
            <a:r>
              <a:rPr lang="en-US" sz="1900" b="1" dirty="0">
                <a:solidFill>
                  <a:schemeClr val="tx1"/>
                </a:solidFill>
              </a:rPr>
              <a:t>Key agreement</a:t>
            </a:r>
            <a:endParaRPr lang="en-US" sz="1900" dirty="0"/>
          </a:p>
        </p:txBody>
      </p:sp>
      <p:sp>
        <p:nvSpPr>
          <p:cNvPr id="7" name="text-156"/>
          <p:cNvSpPr txBox="1"/>
          <p:nvPr/>
        </p:nvSpPr>
        <p:spPr>
          <a:xfrm>
            <a:off x="777240" y="2606040"/>
            <a:ext cx="3108960" cy="1234440"/>
          </a:xfrm>
          <a:prstGeom prst="rect">
            <a:avLst/>
          </a:prstGeom>
          <a:noFill/>
          <a:ln/>
        </p:spPr>
        <p:txBody>
          <a:bodyPr wrap="square" lIns="0" tIns="0" rIns="0" bIns="0" rtlCol="0" anchor="t"/>
          <a:lstStyle/>
          <a:p>
            <a:pPr indent="0" marL="0">
              <a:buNone/>
            </a:pPr>
            <a:r>
              <a:rPr lang="en-US" sz="1400" dirty="0">
                <a:solidFill>
                  <a:schemeClr val="tx2"/>
                </a:solidFill>
              </a:rPr>
              <a:t>Fresh X25519 key pair per run; public keys swapped via the server (KEY line); both sides derive the same 2 session keys</a:t>
            </a:r>
            <a:endParaRPr lang="en-US" sz="1400" dirty="0"/>
          </a:p>
        </p:txBody>
      </p:sp>
      <p:sp>
        <p:nvSpPr>
          <p:cNvPr id="8" name="arrow-157"/>
          <p:cNvSpPr/>
          <p:nvPr/>
        </p:nvSpPr>
        <p:spPr>
          <a:xfrm>
            <a:off x="4096512" y="2651760"/>
            <a:ext cx="173736" cy="0"/>
          </a:xfrm>
          <a:prstGeom prst="line">
            <a:avLst/>
          </a:prstGeom>
          <a:noFill/>
          <a:ln w="31750">
            <a:solidFill>
              <a:srgbClr val="7A8599"/>
            </a:solidFill>
            <a:prstDash val="solid"/>
            <a:tailEnd type="triangle"/>
          </a:ln>
        </p:spPr>
      </p:sp>
      <p:sp>
        <p:nvSpPr>
          <p:cNvPr id="9" name="card-158"/>
          <p:cNvSpPr/>
          <p:nvPr/>
        </p:nvSpPr>
        <p:spPr>
          <a:xfrm>
            <a:off x="4297680" y="1417320"/>
            <a:ext cx="3520440" cy="2468880"/>
          </a:xfrm>
          <a:prstGeom prst="roundRect">
            <a:avLst>
              <a:gd name="adj" fmla="val 4444"/>
            </a:avLst>
          </a:prstGeom>
          <a:solidFill>
            <a:schemeClr val="bg2"/>
          </a:solidFill>
          <a:ln/>
        </p:spPr>
      </p:sp>
      <p:sp>
        <p:nvSpPr>
          <p:cNvPr id="10" name="badge-159"/>
          <p:cNvSpPr/>
          <p:nvPr/>
        </p:nvSpPr>
        <p:spPr>
          <a:xfrm>
            <a:off x="4526280" y="1600200"/>
            <a:ext cx="438912" cy="438912"/>
          </a:xfrm>
          <a:prstGeom prst="ellipse">
            <a:avLst/>
          </a:prstGeom>
          <a:solidFill>
            <a:schemeClr val="accent2"/>
          </a:solidFill>
          <a:ln/>
        </p:spPr>
      </p:sp>
      <p:sp>
        <p:nvSpPr>
          <p:cNvPr id="11" name="badge-text-160"/>
          <p:cNvSpPr txBox="1"/>
          <p:nvPr/>
        </p:nvSpPr>
        <p:spPr>
          <a:xfrm>
            <a:off x="452628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161"/>
          <p:cNvSpPr txBox="1"/>
          <p:nvPr/>
        </p:nvSpPr>
        <p:spPr>
          <a:xfrm>
            <a:off x="4526280" y="2148840"/>
            <a:ext cx="3108960" cy="411480"/>
          </a:xfrm>
          <a:prstGeom prst="rect">
            <a:avLst/>
          </a:prstGeom>
          <a:noFill/>
          <a:ln/>
        </p:spPr>
        <p:txBody>
          <a:bodyPr wrap="square" lIns="0" tIns="0" rIns="0" bIns="0" rtlCol="0" anchor="t"/>
          <a:lstStyle/>
          <a:p>
            <a:pPr indent="0" marL="0">
              <a:buNone/>
            </a:pPr>
            <a:r>
              <a:rPr lang="en-US" sz="1900" b="1" dirty="0">
                <a:solidFill>
                  <a:schemeClr val="tx1"/>
                </a:solidFill>
              </a:rPr>
              <a:t>Every packet</a:t>
            </a:r>
            <a:endParaRPr lang="en-US" sz="1900" dirty="0"/>
          </a:p>
        </p:txBody>
      </p:sp>
      <p:sp>
        <p:nvSpPr>
          <p:cNvPr id="13" name="text-162"/>
          <p:cNvSpPr txBox="1"/>
          <p:nvPr/>
        </p:nvSpPr>
        <p:spPr>
          <a:xfrm>
            <a:off x="4526280" y="2606040"/>
            <a:ext cx="3108960" cy="1234440"/>
          </a:xfrm>
          <a:prstGeom prst="rect">
            <a:avLst/>
          </a:prstGeom>
          <a:noFill/>
          <a:ln/>
        </p:spPr>
        <p:txBody>
          <a:bodyPr wrap="square" lIns="0" tIns="0" rIns="0" bIns="0" rtlCol="0" anchor="t"/>
          <a:lstStyle/>
          <a:p>
            <a:pPr indent="0" marL="0">
              <a:buNone/>
            </a:pPr>
            <a:r>
              <a:rPr lang="en-US" sz="1400" dirty="0">
                <a:solidFill>
                  <a:schemeClr val="tx2"/>
                </a:solidFill>
              </a:rPr>
              <a:t>ChaCha20-Poly1305 AEAD; header readable but authenticated; nonce = SSRC · seq · PT · timestamp</a:t>
            </a:r>
            <a:endParaRPr lang="en-US" sz="1400" dirty="0"/>
          </a:p>
        </p:txBody>
      </p:sp>
      <p:sp>
        <p:nvSpPr>
          <p:cNvPr id="14" name="arrow-163"/>
          <p:cNvSpPr/>
          <p:nvPr/>
        </p:nvSpPr>
        <p:spPr>
          <a:xfrm>
            <a:off x="7845552" y="2651760"/>
            <a:ext cx="173736" cy="0"/>
          </a:xfrm>
          <a:prstGeom prst="line">
            <a:avLst/>
          </a:prstGeom>
          <a:noFill/>
          <a:ln w="31750">
            <a:solidFill>
              <a:srgbClr val="7A8599"/>
            </a:solidFill>
            <a:prstDash val="solid"/>
            <a:tailEnd type="triangle"/>
          </a:ln>
        </p:spPr>
      </p:sp>
      <p:sp>
        <p:nvSpPr>
          <p:cNvPr id="15" name="card-164"/>
          <p:cNvSpPr/>
          <p:nvPr/>
        </p:nvSpPr>
        <p:spPr>
          <a:xfrm>
            <a:off x="8046720" y="1417320"/>
            <a:ext cx="3520440" cy="2468880"/>
          </a:xfrm>
          <a:prstGeom prst="roundRect">
            <a:avLst>
              <a:gd name="adj" fmla="val 4444"/>
            </a:avLst>
          </a:prstGeom>
          <a:solidFill>
            <a:schemeClr val="bg2"/>
          </a:solidFill>
          <a:ln/>
        </p:spPr>
      </p:sp>
      <p:sp>
        <p:nvSpPr>
          <p:cNvPr id="16" name="badge-165"/>
          <p:cNvSpPr/>
          <p:nvPr/>
        </p:nvSpPr>
        <p:spPr>
          <a:xfrm>
            <a:off x="8275320" y="1600200"/>
            <a:ext cx="438912" cy="438912"/>
          </a:xfrm>
          <a:prstGeom prst="ellipse">
            <a:avLst/>
          </a:prstGeom>
          <a:solidFill>
            <a:schemeClr val="accent2"/>
          </a:solidFill>
          <a:ln/>
        </p:spPr>
      </p:sp>
      <p:sp>
        <p:nvSpPr>
          <p:cNvPr id="17" name="badge-text-166"/>
          <p:cNvSpPr txBox="1"/>
          <p:nvPr/>
        </p:nvSpPr>
        <p:spPr>
          <a:xfrm>
            <a:off x="8275320" y="16002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167"/>
          <p:cNvSpPr txBox="1"/>
          <p:nvPr/>
        </p:nvSpPr>
        <p:spPr>
          <a:xfrm>
            <a:off x="8275320" y="2148840"/>
            <a:ext cx="3108960" cy="411480"/>
          </a:xfrm>
          <a:prstGeom prst="rect">
            <a:avLst/>
          </a:prstGeom>
          <a:noFill/>
          <a:ln/>
        </p:spPr>
        <p:txBody>
          <a:bodyPr wrap="square" lIns="0" tIns="0" rIns="0" bIns="0" rtlCol="0" anchor="t"/>
          <a:lstStyle/>
          <a:p>
            <a:pPr indent="0" marL="0">
              <a:buNone/>
            </a:pPr>
            <a:r>
              <a:rPr lang="en-US" sz="1900" b="1" dirty="0">
                <a:solidFill>
                  <a:schemeClr val="tx1"/>
                </a:solidFill>
              </a:rPr>
              <a:t>Tampering</a:t>
            </a:r>
            <a:endParaRPr lang="en-US" sz="1900" dirty="0"/>
          </a:p>
        </p:txBody>
      </p:sp>
      <p:sp>
        <p:nvSpPr>
          <p:cNvPr id="19" name="text-168"/>
          <p:cNvSpPr txBox="1"/>
          <p:nvPr/>
        </p:nvSpPr>
        <p:spPr>
          <a:xfrm>
            <a:off x="8275320" y="2606040"/>
            <a:ext cx="3108960" cy="1234440"/>
          </a:xfrm>
          <a:prstGeom prst="rect">
            <a:avLst/>
          </a:prstGeom>
          <a:noFill/>
          <a:ln/>
        </p:spPr>
        <p:txBody>
          <a:bodyPr wrap="square" lIns="0" tIns="0" rIns="0" bIns="0" rtlCol="0" anchor="t"/>
          <a:lstStyle/>
          <a:p>
            <a:pPr indent="0" marL="0">
              <a:buNone/>
            </a:pPr>
            <a:r>
              <a:rPr lang="en-US" sz="1400" dirty="0">
                <a:solidFill>
                  <a:schemeClr val="tx2"/>
                </a:solidFill>
              </a:rPr>
              <a:t>One flipped bit (even in the sequence number) fails the tag; packet dropped (AUTH-FAIL)</a:t>
            </a:r>
            <a:endParaRPr lang="en-US" sz="1400" dirty="0"/>
          </a:p>
        </p:txBody>
      </p:sp>
      <p:sp>
        <p:nvSpPr>
          <p:cNvPr id="20" name="card-169"/>
          <p:cNvSpPr/>
          <p:nvPr/>
        </p:nvSpPr>
        <p:spPr>
          <a:xfrm>
            <a:off x="548640" y="4160520"/>
            <a:ext cx="5486400" cy="1874520"/>
          </a:xfrm>
          <a:prstGeom prst="roundRect">
            <a:avLst>
              <a:gd name="adj" fmla="val 5854"/>
            </a:avLst>
          </a:prstGeom>
          <a:solidFill>
            <a:srgbClr val="FFF1E6"/>
          </a:solidFill>
          <a:ln/>
        </p:spPr>
      </p:sp>
      <p:sp>
        <p:nvSpPr>
          <p:cNvPr id="21" name="text-170"/>
          <p:cNvSpPr txBox="1"/>
          <p:nvPr/>
        </p:nvSpPr>
        <p:spPr>
          <a:xfrm>
            <a:off x="777240" y="4297680"/>
            <a:ext cx="5029200" cy="365760"/>
          </a:xfrm>
          <a:prstGeom prst="rect">
            <a:avLst/>
          </a:prstGeom>
          <a:noFill/>
          <a:ln/>
        </p:spPr>
        <p:txBody>
          <a:bodyPr wrap="square" lIns="0" tIns="0" rIns="0" bIns="0" rtlCol="0" anchor="t"/>
          <a:lstStyle/>
          <a:p>
            <a:pPr indent="0" marL="0">
              <a:buNone/>
            </a:pPr>
            <a:r>
              <a:rPr lang="en-US" sz="1700" b="1" dirty="0">
                <a:solidFill>
                  <a:schemeClr val="tx1"/>
                </a:solidFill>
              </a:rPr>
              <a:t>Man-in-the-middle check</a:t>
            </a:r>
            <a:endParaRPr lang="en-US" sz="1700" dirty="0"/>
          </a:p>
        </p:txBody>
      </p:sp>
      <p:sp>
        <p:nvSpPr>
          <p:cNvPr id="22" name="text-171"/>
          <p:cNvSpPr txBox="1"/>
          <p:nvPr/>
        </p:nvSpPr>
        <p:spPr>
          <a:xfrm>
            <a:off x="777240" y="4709160"/>
            <a:ext cx="5029200" cy="1234440"/>
          </a:xfrm>
          <a:prstGeom prst="rect">
            <a:avLst/>
          </a:prstGeom>
          <a:noFill/>
          <a:ln/>
        </p:spPr>
        <p:txBody>
          <a:bodyPr wrap="square" lIns="0" tIns="0" rIns="0" bIns="0" rtlCol="0" anchor="t"/>
          <a:lstStyle/>
          <a:p>
            <a:pPr indent="0" marL="0">
              <a:buNone/>
            </a:pPr>
            <a:r>
              <a:rPr lang="en-US" sz="1500" dirty="0">
                <a:solidFill>
                  <a:schemeClr val="tx2"/>
                </a:solidFill>
              </a:rPr>
              <a:t>A malicious server could swap keys, so both screens show a safety code (hash of both public keys), e.g. 0D66-C339. Same code = no one in between.</a:t>
            </a:r>
            <a:endParaRPr lang="en-US" sz="1500" dirty="0"/>
          </a:p>
        </p:txBody>
      </p:sp>
      <p:sp>
        <p:nvSpPr>
          <p:cNvPr id="23" name="card-172"/>
          <p:cNvSpPr/>
          <p:nvPr/>
        </p:nvSpPr>
        <p:spPr>
          <a:xfrm>
            <a:off x="6263640" y="4160520"/>
            <a:ext cx="5349240" cy="1874520"/>
          </a:xfrm>
          <a:prstGeom prst="roundRect">
            <a:avLst>
              <a:gd name="adj" fmla="val 5854"/>
            </a:avLst>
          </a:prstGeom>
          <a:solidFill>
            <a:schemeClr val="bg2"/>
          </a:solidFill>
          <a:ln/>
        </p:spPr>
      </p:sp>
      <p:sp>
        <p:nvSpPr>
          <p:cNvPr id="24" name="text-173"/>
          <p:cNvSpPr txBox="1"/>
          <p:nvPr/>
        </p:nvSpPr>
        <p:spPr>
          <a:xfrm>
            <a:off x="6492240" y="4297680"/>
            <a:ext cx="4937760" cy="365760"/>
          </a:xfrm>
          <a:prstGeom prst="rect">
            <a:avLst/>
          </a:prstGeom>
          <a:noFill/>
          <a:ln/>
        </p:spPr>
        <p:txBody>
          <a:bodyPr wrap="square" lIns="0" tIns="0" rIns="0" bIns="0" rtlCol="0" anchor="t"/>
          <a:lstStyle/>
          <a:p>
            <a:pPr indent="0" marL="0">
              <a:buNone/>
            </a:pPr>
            <a:r>
              <a:rPr lang="en-US" sz="1700" b="1" dirty="0">
                <a:solidFill>
                  <a:schemeClr val="tx1"/>
                </a:solidFill>
              </a:rPr>
              <a:t>Server hardening</a:t>
            </a:r>
            <a:endParaRPr lang="en-US" sz="1700" dirty="0"/>
          </a:p>
        </p:txBody>
      </p:sp>
      <p:sp>
        <p:nvSpPr>
          <p:cNvPr id="25" name="text-174"/>
          <p:cNvSpPr txBox="1"/>
          <p:nvPr/>
        </p:nvSpPr>
        <p:spPr>
          <a:xfrm>
            <a:off x="6492240" y="4709160"/>
            <a:ext cx="4937760" cy="1234440"/>
          </a:xfrm>
          <a:prstGeom prst="rect">
            <a:avLst/>
          </a:prstGeom>
          <a:noFill/>
          <a:ln/>
        </p:spPr>
        <p:txBody>
          <a:bodyPr wrap="square" lIns="0" tIns="0" rIns="0" bIns="0" rtlCol="0" anchor="t"/>
          <a:lstStyle/>
          <a:p>
            <a:pPr indent="0" marL="0">
              <a:buNone/>
            </a:pPr>
            <a:r>
              <a:rPr lang="en-US" sz="1500" dirty="0">
                <a:solidFill>
                  <a:schemeClr val="tx2"/>
                </a:solidFill>
              </a:rPr>
              <a:t>512-byte line limit (DoS), strict name/candidate/key checks, relay only within a room, 4-person cap, idle timeout. Not covered: TLS on signalling, media replay window.</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Evaluation: 28 runs through emulated bad networks</a:t>
            </a:r>
            <a:endParaRPr lang="en-US" sz="3200" dirty="0"/>
          </a:p>
        </p:txBody>
      </p:sp>
      <p:sp>
        <p:nvSpPr>
          <p:cNvPr id="3" name="card-175"/>
          <p:cNvSpPr/>
          <p:nvPr/>
        </p:nvSpPr>
        <p:spPr>
          <a:xfrm>
            <a:off x="548640" y="1463040"/>
            <a:ext cx="2926080" cy="1463040"/>
          </a:xfrm>
          <a:prstGeom prst="roundRect">
            <a:avLst>
              <a:gd name="adj" fmla="val 7500"/>
            </a:avLst>
          </a:prstGeom>
          <a:solidFill>
            <a:schemeClr val="bg2"/>
          </a:solidFill>
          <a:ln/>
        </p:spPr>
      </p:sp>
      <p:sp>
        <p:nvSpPr>
          <p:cNvPr id="4" name="text-176"/>
          <p:cNvSpPr txBox="1"/>
          <p:nvPr/>
        </p:nvSpPr>
        <p:spPr>
          <a:xfrm>
            <a:off x="731520" y="1600200"/>
            <a:ext cx="2560320" cy="365760"/>
          </a:xfrm>
          <a:prstGeom prst="rect">
            <a:avLst/>
          </a:prstGeom>
          <a:noFill/>
          <a:ln/>
        </p:spPr>
        <p:txBody>
          <a:bodyPr wrap="square" lIns="0" tIns="0" rIns="0" bIns="0" rtlCol="0" anchor="t"/>
          <a:lstStyle/>
          <a:p>
            <a:pPr indent="0" marL="0">
              <a:buNone/>
            </a:pPr>
            <a:r>
              <a:rPr lang="en-US" sz="1500" b="1" dirty="0">
                <a:solidFill>
                  <a:schemeClr val="tx1"/>
                </a:solidFill>
              </a:rPr>
              <a:t>namespace mmA · 10.10.0.1</a:t>
            </a:r>
            <a:endParaRPr lang="en-US" sz="1500" dirty="0"/>
          </a:p>
        </p:txBody>
      </p:sp>
      <p:sp>
        <p:nvSpPr>
          <p:cNvPr id="5" name="text-177"/>
          <p:cNvSpPr txBox="1"/>
          <p:nvPr/>
        </p:nvSpPr>
        <p:spPr>
          <a:xfrm>
            <a:off x="731520" y="2011680"/>
            <a:ext cx="2560320" cy="365760"/>
          </a:xfrm>
          <a:prstGeom prst="rect">
            <a:avLst/>
          </a:prstGeom>
          <a:noFill/>
          <a:ln/>
        </p:spPr>
        <p:txBody>
          <a:bodyPr wrap="square" lIns="0" tIns="0" rIns="0" bIns="0" rtlCol="0" anchor="t"/>
          <a:lstStyle/>
          <a:p>
            <a:pPr indent="0" marL="0">
              <a:buNone/>
            </a:pPr>
            <a:r>
              <a:rPr lang="en-US" sz="1400" dirty="0">
                <a:solidFill>
                  <a:schemeClr val="tx2"/>
                </a:solidFill>
              </a:rPr>
              <a:t>mm-server + client A</a:t>
            </a:r>
            <a:endParaRPr lang="en-US" sz="1400" dirty="0"/>
          </a:p>
        </p:txBody>
      </p:sp>
      <p:sp>
        <p:nvSpPr>
          <p:cNvPr id="6" name="card-178"/>
          <p:cNvSpPr/>
          <p:nvPr/>
        </p:nvSpPr>
        <p:spPr>
          <a:xfrm>
            <a:off x="4069080" y="1463040"/>
            <a:ext cx="2926080" cy="1463040"/>
          </a:xfrm>
          <a:prstGeom prst="roundRect">
            <a:avLst>
              <a:gd name="adj" fmla="val 7500"/>
            </a:avLst>
          </a:prstGeom>
          <a:solidFill>
            <a:schemeClr val="bg2"/>
          </a:solidFill>
          <a:ln/>
        </p:spPr>
      </p:sp>
      <p:sp>
        <p:nvSpPr>
          <p:cNvPr id="7" name="text-179"/>
          <p:cNvSpPr txBox="1"/>
          <p:nvPr/>
        </p:nvSpPr>
        <p:spPr>
          <a:xfrm>
            <a:off x="4251960" y="1600200"/>
            <a:ext cx="2560320" cy="365760"/>
          </a:xfrm>
          <a:prstGeom prst="rect">
            <a:avLst/>
          </a:prstGeom>
          <a:noFill/>
          <a:ln/>
        </p:spPr>
        <p:txBody>
          <a:bodyPr wrap="square" lIns="0" tIns="0" rIns="0" bIns="0" rtlCol="0" anchor="t"/>
          <a:lstStyle/>
          <a:p>
            <a:pPr indent="0" marL="0">
              <a:buNone/>
            </a:pPr>
            <a:r>
              <a:rPr lang="en-US" sz="1500" b="1" dirty="0">
                <a:solidFill>
                  <a:schemeClr val="tx1"/>
                </a:solidFill>
              </a:rPr>
              <a:t>namespace mmB · 10.10.0.2</a:t>
            </a:r>
            <a:endParaRPr lang="en-US" sz="1500" dirty="0"/>
          </a:p>
        </p:txBody>
      </p:sp>
      <p:sp>
        <p:nvSpPr>
          <p:cNvPr id="8" name="text-180"/>
          <p:cNvSpPr txBox="1"/>
          <p:nvPr/>
        </p:nvSpPr>
        <p:spPr>
          <a:xfrm>
            <a:off x="4251960" y="2011680"/>
            <a:ext cx="2560320" cy="365760"/>
          </a:xfrm>
          <a:prstGeom prst="rect">
            <a:avLst/>
          </a:prstGeom>
          <a:noFill/>
          <a:ln/>
        </p:spPr>
        <p:txBody>
          <a:bodyPr wrap="square" lIns="0" tIns="0" rIns="0" bIns="0" rtlCol="0" anchor="t"/>
          <a:lstStyle/>
          <a:p>
            <a:pPr indent="0" marL="0">
              <a:buNone/>
            </a:pPr>
            <a:r>
              <a:rPr lang="en-US" sz="1400" dirty="0">
                <a:solidFill>
                  <a:schemeClr val="tx2"/>
                </a:solidFill>
              </a:rPr>
              <a:t>client B</a:t>
            </a:r>
            <a:endParaRPr lang="en-US" sz="1400" dirty="0"/>
          </a:p>
        </p:txBody>
      </p:sp>
      <p:sp>
        <p:nvSpPr>
          <p:cNvPr id="9" name="veth-181"/>
          <p:cNvSpPr/>
          <p:nvPr/>
        </p:nvSpPr>
        <p:spPr>
          <a:xfrm>
            <a:off x="3474720" y="2194560"/>
            <a:ext cx="594360" cy="0"/>
          </a:xfrm>
          <a:prstGeom prst="line">
            <a:avLst/>
          </a:prstGeom>
          <a:noFill/>
          <a:ln w="50800">
            <a:solidFill>
              <a:srgbClr val="E0782B"/>
            </a:solidFill>
            <a:prstDash val="solid"/>
            <a:headEnd type="triangle"/>
            <a:tailEnd type="triangle"/>
          </a:ln>
        </p:spPr>
      </p:sp>
      <p:sp>
        <p:nvSpPr>
          <p:cNvPr id="10" name="text-182"/>
          <p:cNvSpPr txBox="1"/>
          <p:nvPr/>
        </p:nvSpPr>
        <p:spPr>
          <a:xfrm>
            <a:off x="548640" y="3063240"/>
            <a:ext cx="6400800" cy="640080"/>
          </a:xfrm>
          <a:prstGeom prst="rect">
            <a:avLst/>
          </a:prstGeom>
          <a:noFill/>
          <a:ln/>
        </p:spPr>
        <p:txBody>
          <a:bodyPr wrap="square" lIns="0" tIns="0" rIns="0" bIns="0" rtlCol="0" anchor="t"/>
          <a:lstStyle/>
          <a:p>
            <a:pPr indent="0" marL="0">
              <a:buNone/>
            </a:pPr>
            <a:r>
              <a:rPr lang="en-US" sz="1400" dirty="0">
                <a:solidFill>
                  <a:schemeClr val="accent5"/>
                </a:solidFill>
              </a:rPr>
              <a:t>veth pair, tc netem on both ends: each direction impaired on its own, like a real access link</a:t>
            </a:r>
            <a:endParaRPr lang="en-US" sz="1400" dirty="0"/>
          </a:p>
        </p:txBody>
      </p:sp>
      <p:sp>
        <p:nvSpPr>
          <p:cNvPr id="11" name="list-183"/>
          <p:cNvSpPr txBox="1"/>
          <p:nvPr/>
        </p:nvSpPr>
        <p:spPr>
          <a:xfrm>
            <a:off x="548640" y="3840480"/>
            <a:ext cx="640080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10 s clean → profile applied mid-call → 45 s recorded</a:t>
            </a:r>
            <a:endParaRPr lang="en-US" sz="1500" dirty="0"/>
          </a:p>
          <a:p>
            <a:pPr marL="203200" indent="-203200">
              <a:spcAft>
                <a:spcPts val="600"/>
              </a:spcAft>
              <a:buSzPct val="100000"/>
              <a:buChar char="•"/>
            </a:pPr>
            <a:r>
              <a:rPr lang="en-US" sz="1500" dirty="0">
                <a:solidFill>
                  <a:schemeClr val="tx2"/>
                </a:solidFill>
              </a:rPr>
              <a:t>Rate control off (fixed 1200 kbps) vs on, for every profile</a:t>
            </a:r>
            <a:endParaRPr lang="en-US" sz="1500" dirty="0"/>
          </a:p>
          <a:p>
            <a:pPr marL="203200" indent="-203200">
              <a:spcAft>
                <a:spcPts val="600"/>
              </a:spcAft>
              <a:buSzPct val="100000"/>
              <a:buChar char="•"/>
            </a:pPr>
            <a:r>
              <a:rPr lang="en-US" sz="1500" dirty="0">
                <a:solidFill>
                  <a:schemeClr val="tx2"/>
                </a:solidFill>
              </a:rPr>
              <a:t>Per-second CSV: bitrate, fps, loss, jitter, RTT, freezes, concealment, playout spread, buffer delay</a:t>
            </a:r>
            <a:endParaRPr lang="en-US" sz="1500" dirty="0"/>
          </a:p>
          <a:p>
            <a:pPr marL="203200" indent="-203200">
              <a:spcAft>
                <a:spcPts val="600"/>
              </a:spcAft>
              <a:buSzPct val="100000"/>
              <a:buChar char="•"/>
            </a:pPr>
            <a:r>
              <a:rPr lang="en-US" sz="1500" dirty="0">
                <a:solidFill>
                  <a:schemeClr val="tx2"/>
                </a:solidFill>
              </a:rPr>
              <a:t>Extra runs: jitter buffer on/off, changing bandwidth in one call, 4-person mesh, real cross-network call</a:t>
            </a:r>
            <a:endParaRPr lang="en-US" sz="1500" dirty="0"/>
          </a:p>
        </p:txBody>
      </p:sp>
      <p:graphicFrame>
        <p:nvGraphicFramePr>
          <p:cNvPr id="12" name="profiles-184"/>
          <p:cNvGraphicFramePr>
            <a:graphicFrameLocks noGrp="1"/>
          </p:cNvGraphicFramePr>
          <p:nvPr>
            <p:extLst>
              <p:ext uri="{D42A27DB-BD31-4B8C-83A1-F6EECF244321}">
                <p14:modId xmlns:p14="http://schemas.microsoft.com/office/powerpoint/2010/main" val="1579011935"/>
              </p:ext>
            </p:extLst>
          </p:nvPr>
        </p:nvGraphicFramePr>
        <p:xfrm>
          <a:off x="7269480" y="1463040"/>
          <a:ext cx="4343400" cy="914400"/>
        </p:xfrm>
        <a:graphic>
          <a:graphicData uri="http://schemas.openxmlformats.org/drawingml/2006/table">
            <a:tbl>
              <a:tblPr/>
              <a:tblGrid>
                <a:gridCol w="1874520"/>
                <a:gridCol w="2468880"/>
              </a:tblGrid>
              <a:tr h="0">
                <a:tc>
                  <a:txBody>
                    <a:bodyPr/>
                    <a:lstStyle/>
                    <a:p>
                      <a:pPr indent="0" marL="0">
                        <a:buNone/>
                      </a:pPr>
                      <a:r>
                        <a:rPr lang="en-US" sz="1300" b="1" dirty="0">
                          <a:solidFill>
                            <a:srgbClr val="3D4A5C"/>
                          </a:solidFill>
                        </a:rPr>
                        <a:t>Profile</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solidFill>
                      <a:srgbClr val="E3E9F6"/>
                    </a:solidFill>
                  </a:tcPr>
                </a:tc>
                <a:tc>
                  <a:txBody>
                    <a:bodyPr/>
                    <a:lstStyle/>
                    <a:p>
                      <a:pPr indent="0" marL="0">
                        <a:buNone/>
                      </a:pPr>
                      <a:r>
                        <a:rPr lang="en-US" sz="1300" b="1" dirty="0">
                          <a:solidFill>
                            <a:srgbClr val="3D4A5C"/>
                          </a:solidFill>
                        </a:rPr>
                        <a:t>netem (each direction)</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solidFill>
                      <a:srgbClr val="E3E9F6"/>
                    </a:solidFill>
                  </a:tcPr>
                </a:tc>
              </a:tr>
              <a:tr h="0">
                <a:tc>
                  <a:txBody>
                    <a:bodyPr/>
                    <a:lstStyle/>
                    <a:p>
                      <a:pPr indent="0" marL="0">
                        <a:buNone/>
                      </a:pPr>
                      <a:r>
                        <a:rPr lang="en-US" sz="1300" dirty="0">
                          <a:solidFill>
                            <a:srgbClr val="3D4A5C"/>
                          </a:solidFill>
                        </a:rPr>
                        <a:t>loss 1 / 5 / 10 / 20</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random loss N %</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burst5</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bursty (Gilbert-Elliott) loss</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delay100</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100 ms fixed delay</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jitter 30 / 60</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100 ms ± 30 / 60 ms (reorders)</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rate 2m / 1m / 500k / 250k</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bandwidth cap, 1000-packet FIFO</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r h="0">
                <a:tc>
                  <a:txBody>
                    <a:bodyPr/>
                    <a:lstStyle/>
                    <a:p>
                      <a:pPr indent="0" marL="0">
                        <a:buNone/>
                      </a:pPr>
                      <a:r>
                        <a:rPr lang="en-US" sz="1300" dirty="0">
                          <a:solidFill>
                            <a:srgbClr val="3D4A5C"/>
                          </a:solidFill>
                        </a:rPr>
                        <a:t>combo</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c>
                  <a:txBody>
                    <a:bodyPr/>
                    <a:lstStyle/>
                    <a:p>
                      <a:pPr indent="0" marL="0">
                        <a:buNone/>
                      </a:pPr>
                      <a:r>
                        <a:rPr lang="en-US" sz="1300" dirty="0">
                          <a:solidFill>
                            <a:srgbClr val="3D4A5C"/>
                          </a:solidFill>
                        </a:rPr>
                        <a:t>80 ± 20 ms, 3 % loss, 1 Mbit/s</a:t>
                      </a:r>
                      <a:endParaRPr lang="en-US" sz="1300" dirty="0"/>
                    </a:p>
                  </a:txBody>
                  <a:tcPr marL="54864" marR="54864" marT="54864" marB="54864" anchor="ctr">
                    <a:lnL w="12700" cap="flat" cmpd="sng" algn="ctr">
                      <a:solidFill>
                        <a:srgbClr val="C9D1DC"/>
                      </a:solidFill>
                      <a:prstDash val="solid"/>
                      <a:round/>
                      <a:headEnd type="none" w="med" len="med"/>
                      <a:tailEnd type="none" w="med" len="med"/>
                    </a:lnL>
                    <a:lnR w="12700" cap="flat" cmpd="sng" algn="ctr">
                      <a:solidFill>
                        <a:srgbClr val="C9D1DC"/>
                      </a:solidFill>
                      <a:prstDash val="solid"/>
                      <a:round/>
                      <a:headEnd type="none" w="med" len="med"/>
                      <a:tailEnd type="none" w="med" len="med"/>
                    </a:lnR>
                    <a:lnT w="12700" cap="flat" cmpd="sng" algn="ctr">
                      <a:solidFill>
                        <a:srgbClr val="C9D1DC"/>
                      </a:solidFill>
                      <a:prstDash val="solid"/>
                      <a:round/>
                      <a:headEnd type="none" w="med" len="med"/>
                      <a:tailEnd type="none" w="med" len="med"/>
                    </a:lnT>
                    <a:lnB w="12700" cap="flat" cmpd="sng" algn="ctr">
                      <a:solidFill>
                        <a:srgbClr val="C9D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Bandwidth caps: rate control stops bufferbloat</a:t>
            </a:r>
            <a:endParaRPr lang="en-US" sz="3200" dirty="0"/>
          </a:p>
        </p:txBody>
      </p:sp>
      <p:sp>
        <p:nvSpPr>
          <p:cNvPr id="3" name="text-185"/>
          <p:cNvSpPr txBox="1"/>
          <p:nvPr/>
        </p:nvSpPr>
        <p:spPr>
          <a:xfrm>
            <a:off x="548640" y="1371600"/>
            <a:ext cx="3749040" cy="82296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10.5 s → 3 ms</a:t>
            </a:r>
            <a:endParaRPr lang="en-US" sz="4000" dirty="0"/>
          </a:p>
        </p:txBody>
      </p:sp>
      <p:sp>
        <p:nvSpPr>
          <p:cNvPr id="4" name="text-186"/>
          <p:cNvSpPr txBox="1"/>
          <p:nvPr/>
        </p:nvSpPr>
        <p:spPr>
          <a:xfrm>
            <a:off x="548640" y="2240280"/>
            <a:ext cx="3749040" cy="685800"/>
          </a:xfrm>
          <a:prstGeom prst="rect">
            <a:avLst/>
          </a:prstGeom>
          <a:noFill/>
          <a:ln/>
        </p:spPr>
        <p:txBody>
          <a:bodyPr wrap="square" lIns="0" tIns="0" rIns="0" bIns="0" rtlCol="0" anchor="t"/>
          <a:lstStyle/>
          <a:p>
            <a:pPr indent="0" marL="0">
              <a:buNone/>
            </a:pPr>
            <a:r>
              <a:rPr lang="en-US" sz="1400" dirty="0">
                <a:solidFill>
                  <a:schemeClr val="tx2"/>
                </a:solidFill>
              </a:rPr>
              <a:t>RTT on a 1 Mbit/s link, fixed rate → adaptive</a:t>
            </a:r>
            <a:endParaRPr lang="en-US" sz="1400" dirty="0"/>
          </a:p>
        </p:txBody>
      </p:sp>
      <p:sp>
        <p:nvSpPr>
          <p:cNvPr id="5" name="text-187"/>
          <p:cNvSpPr txBox="1"/>
          <p:nvPr/>
        </p:nvSpPr>
        <p:spPr>
          <a:xfrm>
            <a:off x="548640" y="2971800"/>
            <a:ext cx="3749040" cy="82296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 → 20 fps</a:t>
            </a:r>
            <a:endParaRPr lang="en-US" sz="4000" dirty="0"/>
          </a:p>
        </p:txBody>
      </p:sp>
      <p:sp>
        <p:nvSpPr>
          <p:cNvPr id="6" name="text-188"/>
          <p:cNvSpPr txBox="1"/>
          <p:nvPr/>
        </p:nvSpPr>
        <p:spPr>
          <a:xfrm>
            <a:off x="548640" y="3840480"/>
            <a:ext cx="3749040" cy="685800"/>
          </a:xfrm>
          <a:prstGeom prst="rect">
            <a:avLst/>
          </a:prstGeom>
          <a:noFill/>
          <a:ln/>
        </p:spPr>
        <p:txBody>
          <a:bodyPr wrap="square" lIns="0" tIns="0" rIns="0" bIns="0" rtlCol="0" anchor="t"/>
          <a:lstStyle/>
          <a:p>
            <a:pPr indent="0" marL="0">
              <a:buNone/>
            </a:pPr>
            <a:r>
              <a:rPr lang="en-US" sz="1400" dirty="0">
                <a:solidFill>
                  <a:schemeClr val="tx2"/>
                </a:solidFill>
              </a:rPr>
              <a:t>video on a 500 kbit/s link (fixed rate freezes completely)</a:t>
            </a:r>
            <a:endParaRPr lang="en-US" sz="1400" dirty="0"/>
          </a:p>
        </p:txBody>
      </p:sp>
      <p:sp>
        <p:nvSpPr>
          <p:cNvPr id="7" name="text-189"/>
          <p:cNvSpPr txBox="1"/>
          <p:nvPr/>
        </p:nvSpPr>
        <p:spPr>
          <a:xfrm>
            <a:off x="548640" y="4572000"/>
            <a:ext cx="3749040" cy="822960"/>
          </a:xfrm>
          <a:prstGeom prst="rect">
            <a:avLst/>
          </a:prstGeom>
          <a:noFill/>
          <a:ln/>
        </p:spPr>
        <p:txBody>
          <a:bodyPr wrap="square" lIns="0" tIns="0" rIns="0" bIns="0" rtlCol="0" anchor="b"/>
          <a:lstStyle/>
          <a:p>
            <a:pPr indent="0" marL="0">
              <a:buNone/>
            </a:pPr>
            <a:r>
              <a:rPr lang="en-US" sz="4000" b="1" dirty="0">
                <a:solidFill>
                  <a:srgbClr val="2F5BB5"/>
                </a:solidFill>
                <a:latin typeface="Cambria" pitchFamily="34" charset="0"/>
                <a:ea typeface="Cambria" pitchFamily="34" charset="-122"/>
                <a:cs typeface="Cambria" pitchFamily="34" charset="-120"/>
              </a:rPr>
              <a:t>0 → 20 fps</a:t>
            </a:r>
            <a:endParaRPr lang="en-US" sz="4000" dirty="0"/>
          </a:p>
        </p:txBody>
      </p:sp>
      <p:sp>
        <p:nvSpPr>
          <p:cNvPr id="8" name="text-190"/>
          <p:cNvSpPr txBox="1"/>
          <p:nvPr/>
        </p:nvSpPr>
        <p:spPr>
          <a:xfrm>
            <a:off x="548640" y="5440680"/>
            <a:ext cx="3749040" cy="685800"/>
          </a:xfrm>
          <a:prstGeom prst="rect">
            <a:avLst/>
          </a:prstGeom>
          <a:noFill/>
          <a:ln/>
        </p:spPr>
        <p:txBody>
          <a:bodyPr wrap="square" lIns="0" tIns="0" rIns="0" bIns="0" rtlCol="0" anchor="t"/>
          <a:lstStyle/>
          <a:p>
            <a:pPr indent="0" marL="0">
              <a:buNone/>
            </a:pPr>
            <a:r>
              <a:rPr lang="en-US" sz="1400" dirty="0">
                <a:solidFill>
                  <a:schemeClr val="tx2"/>
                </a:solidFill>
              </a:rPr>
              <a:t>combined delay + loss + 1 Mbit/s: fixed call stalls, adaptive keeps running</a:t>
            </a:r>
            <a:endParaRPr lang="en-US" sz="1400" dirty="0"/>
          </a:p>
        </p:txBody>
      </p:sp>
      <p:graphicFrame>
        <p:nvGraphicFramePr>
          <p:cNvPr id="9" name="conceal-chart-191" descr=""/>
          <p:cNvGraphicFramePr/>
          <p:nvPr/>
        </p:nvGraphicFramePr>
        <p:xfrm>
          <a:off x="4572000" y="137160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call through changing bandwidth: the sender follows</a:t>
            </a:r>
            <a:endParaRPr lang="en-US" sz="3200" dirty="0"/>
          </a:p>
        </p:txBody>
      </p:sp>
      <p:graphicFrame>
        <p:nvGraphicFramePr>
          <p:cNvPr id="3" name="sched-kbps-192" descr=""/>
          <p:cNvGraphicFramePr/>
          <p:nvPr/>
        </p:nvGraphicFramePr>
        <p:xfrm>
          <a:off x="548640" y="1280160"/>
          <a:ext cx="1106424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sched-rtt-193" descr=""/>
          <p:cNvGraphicFramePr/>
          <p:nvPr/>
        </p:nvGraphicFramePr>
        <p:xfrm>
          <a:off x="548640" y="3977640"/>
          <a:ext cx="11064240" cy="21945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Real-world checks beyond the emulator</a:t>
            </a:r>
            <a:endParaRPr lang="en-US" sz="3200" dirty="0"/>
          </a:p>
        </p:txBody>
      </p:sp>
      <p:sp>
        <p:nvSpPr>
          <p:cNvPr id="3" name="card-194"/>
          <p:cNvSpPr/>
          <p:nvPr/>
        </p:nvSpPr>
        <p:spPr>
          <a:xfrm>
            <a:off x="548640" y="1417320"/>
            <a:ext cx="5440680" cy="2148840"/>
          </a:xfrm>
          <a:prstGeom prst="roundRect">
            <a:avLst>
              <a:gd name="adj" fmla="val 5106"/>
            </a:avLst>
          </a:prstGeom>
          <a:solidFill>
            <a:schemeClr val="bg2"/>
          </a:solidFill>
          <a:ln/>
        </p:spPr>
      </p:sp>
      <p:sp>
        <p:nvSpPr>
          <p:cNvPr id="4" name="text-195"/>
          <p:cNvSpPr txBox="1"/>
          <p:nvPr/>
        </p:nvSpPr>
        <p:spPr>
          <a:xfrm>
            <a:off x="822960" y="1600200"/>
            <a:ext cx="4937760" cy="77724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12 / 12</a:t>
            </a:r>
            <a:endParaRPr lang="en-US" sz="3800" dirty="0"/>
          </a:p>
        </p:txBody>
      </p:sp>
      <p:sp>
        <p:nvSpPr>
          <p:cNvPr id="5" name="text-196"/>
          <p:cNvSpPr txBox="1"/>
          <p:nvPr/>
        </p:nvSpPr>
        <p:spPr>
          <a:xfrm>
            <a:off x="822960" y="2423160"/>
            <a:ext cx="4937760" cy="1005840"/>
          </a:xfrm>
          <a:prstGeom prst="rect">
            <a:avLst/>
          </a:prstGeom>
          <a:noFill/>
          <a:ln/>
        </p:spPr>
        <p:txBody>
          <a:bodyPr wrap="square" lIns="0" tIns="0" rIns="0" bIns="0" rtlCol="0" anchor="t"/>
          <a:lstStyle/>
          <a:p>
            <a:pPr indent="0" marL="0">
              <a:buNone/>
            </a:pPr>
            <a:r>
              <a:rPr lang="en-US" sz="1500" dirty="0">
                <a:solidFill>
                  <a:schemeClr val="tx2"/>
                </a:solidFill>
              </a:rPr>
              <a:t>streams at 640×480, 20 fps in a 4-person mesh (each client uploads 3 copies, ~3.6 Mbit/s)</a:t>
            </a:r>
            <a:endParaRPr lang="en-US" sz="1500" dirty="0"/>
          </a:p>
        </p:txBody>
      </p:sp>
      <p:sp>
        <p:nvSpPr>
          <p:cNvPr id="6" name="card-197"/>
          <p:cNvSpPr/>
          <p:nvPr/>
        </p:nvSpPr>
        <p:spPr>
          <a:xfrm>
            <a:off x="6172200" y="1417320"/>
            <a:ext cx="5440680" cy="2148840"/>
          </a:xfrm>
          <a:prstGeom prst="roundRect">
            <a:avLst>
              <a:gd name="adj" fmla="val 5106"/>
            </a:avLst>
          </a:prstGeom>
          <a:solidFill>
            <a:schemeClr val="bg2"/>
          </a:solidFill>
          <a:ln/>
        </p:spPr>
      </p:sp>
      <p:sp>
        <p:nvSpPr>
          <p:cNvPr id="7" name="text-198"/>
          <p:cNvSpPr txBox="1"/>
          <p:nvPr/>
        </p:nvSpPr>
        <p:spPr>
          <a:xfrm>
            <a:off x="6446520" y="1600200"/>
            <a:ext cx="4937760" cy="77724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srflx→srflx</a:t>
            </a:r>
            <a:endParaRPr lang="en-US" sz="3800" dirty="0"/>
          </a:p>
        </p:txBody>
      </p:sp>
      <p:sp>
        <p:nvSpPr>
          <p:cNvPr id="8" name="text-199"/>
          <p:cNvSpPr txBox="1"/>
          <p:nvPr/>
        </p:nvSpPr>
        <p:spPr>
          <a:xfrm>
            <a:off x="6446520" y="2423160"/>
            <a:ext cx="4937760" cy="1005840"/>
          </a:xfrm>
          <a:prstGeom prst="rect">
            <a:avLst/>
          </a:prstGeom>
          <a:noFill/>
          <a:ln/>
        </p:spPr>
        <p:txBody>
          <a:bodyPr wrap="square" lIns="0" tIns="0" rIns="0" bIns="0" rtlCol="0" anchor="t"/>
          <a:lstStyle/>
          <a:p>
            <a:pPr indent="0" marL="0">
              <a:buNone/>
            </a:pPr>
            <a:r>
              <a:rPr lang="en-US" sz="1500" dirty="0">
                <a:solidFill>
                  <a:schemeClr val="tx2"/>
                </a:solidFill>
              </a:rPr>
              <a:t>college Wi-Fi ↔ mobile hotspot, median RTT 85 ms; hotspot spikes to 1.15 s were followed by the controller</a:t>
            </a:r>
            <a:endParaRPr lang="en-US" sz="1500" dirty="0"/>
          </a:p>
        </p:txBody>
      </p:sp>
      <p:sp>
        <p:nvSpPr>
          <p:cNvPr id="9" name="card-200"/>
          <p:cNvSpPr/>
          <p:nvPr/>
        </p:nvSpPr>
        <p:spPr>
          <a:xfrm>
            <a:off x="548640" y="3794760"/>
            <a:ext cx="5440680" cy="2148840"/>
          </a:xfrm>
          <a:prstGeom prst="roundRect">
            <a:avLst>
              <a:gd name="adj" fmla="val 5106"/>
            </a:avLst>
          </a:prstGeom>
          <a:solidFill>
            <a:schemeClr val="bg2"/>
          </a:solidFill>
          <a:ln/>
        </p:spPr>
      </p:sp>
      <p:sp>
        <p:nvSpPr>
          <p:cNvPr id="10" name="text-201"/>
          <p:cNvSpPr txBox="1"/>
          <p:nvPr/>
        </p:nvSpPr>
        <p:spPr>
          <a:xfrm>
            <a:off x="822960" y="3977640"/>
            <a:ext cx="4937760" cy="77724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20 fps</a:t>
            </a:r>
            <a:endParaRPr lang="en-US" sz="3800" dirty="0"/>
          </a:p>
        </p:txBody>
      </p:sp>
      <p:sp>
        <p:nvSpPr>
          <p:cNvPr id="11" name="text-202"/>
          <p:cNvSpPr txBox="1"/>
          <p:nvPr/>
        </p:nvSpPr>
        <p:spPr>
          <a:xfrm>
            <a:off x="822960" y="4800600"/>
            <a:ext cx="4937760" cy="1005840"/>
          </a:xfrm>
          <a:prstGeom prst="rect">
            <a:avLst/>
          </a:prstGeom>
          <a:noFill/>
          <a:ln/>
        </p:spPr>
        <p:txBody>
          <a:bodyPr wrap="square" lIns="0" tIns="0" rIns="0" bIns="0" rtlCol="0" anchor="t"/>
          <a:lstStyle/>
          <a:p>
            <a:pPr indent="0" marL="0">
              <a:buNone/>
            </a:pPr>
            <a:r>
              <a:rPr lang="en-US" sz="1500" dirty="0">
                <a:solidFill>
                  <a:schemeClr val="tx2"/>
                </a:solidFill>
              </a:rPr>
              <a:t>recorded file (H.264 + AAC) streamed in real time, 0 % audio concealed</a:t>
            </a:r>
            <a:endParaRPr lang="en-US" sz="1500" dirty="0"/>
          </a:p>
        </p:txBody>
      </p:sp>
      <p:sp>
        <p:nvSpPr>
          <p:cNvPr id="12" name="card-203"/>
          <p:cNvSpPr/>
          <p:nvPr/>
        </p:nvSpPr>
        <p:spPr>
          <a:xfrm>
            <a:off x="6172200" y="3794760"/>
            <a:ext cx="5440680" cy="2148840"/>
          </a:xfrm>
          <a:prstGeom prst="roundRect">
            <a:avLst>
              <a:gd name="adj" fmla="val 5106"/>
            </a:avLst>
          </a:prstGeom>
          <a:solidFill>
            <a:schemeClr val="bg2"/>
          </a:solidFill>
          <a:ln/>
        </p:spPr>
      </p:sp>
      <p:sp>
        <p:nvSpPr>
          <p:cNvPr id="13" name="text-204"/>
          <p:cNvSpPr txBox="1"/>
          <p:nvPr/>
        </p:nvSpPr>
        <p:spPr>
          <a:xfrm>
            <a:off x="6446520" y="3977640"/>
            <a:ext cx="4937760" cy="777240"/>
          </a:xfrm>
          <a:prstGeom prst="rect">
            <a:avLst/>
          </a:prstGeom>
          <a:noFill/>
          <a:ln/>
        </p:spPr>
        <p:txBody>
          <a:bodyPr wrap="square" lIns="0" tIns="0" rIns="0" bIns="0" rtlCol="0" anchor="ctr"/>
          <a:lstStyle/>
          <a:p>
            <a:pPr indent="0" marL="0">
              <a:buNone/>
            </a:pPr>
            <a:r>
              <a:rPr lang="en-US" sz="3800" b="1" dirty="0">
                <a:solidFill>
                  <a:schemeClr val="accent2"/>
                </a:solidFill>
                <a:latin typeface="Cambria" pitchFamily="34" charset="0"/>
                <a:ea typeface="Cambria" pitchFamily="34" charset="-122"/>
                <a:cs typeface="Cambria" pitchFamily="34" charset="-120"/>
              </a:rPr>
              <a:t>72 / 72</a:t>
            </a:r>
            <a:endParaRPr lang="en-US" sz="3800" dirty="0"/>
          </a:p>
        </p:txBody>
      </p:sp>
      <p:sp>
        <p:nvSpPr>
          <p:cNvPr id="14" name="text-205"/>
          <p:cNvSpPr txBox="1"/>
          <p:nvPr/>
        </p:nvSpPr>
        <p:spPr>
          <a:xfrm>
            <a:off x="6446520" y="4800600"/>
            <a:ext cx="4937760" cy="1005840"/>
          </a:xfrm>
          <a:prstGeom prst="rect">
            <a:avLst/>
          </a:prstGeom>
          <a:noFill/>
          <a:ln/>
        </p:spPr>
        <p:txBody>
          <a:bodyPr wrap="square" lIns="0" tIns="0" rIns="0" bIns="0" rtlCol="0" anchor="t"/>
          <a:lstStyle/>
          <a:p>
            <a:pPr indent="0" marL="0">
              <a:buNone/>
            </a:pPr>
            <a:r>
              <a:rPr lang="en-US" sz="1500" dirty="0">
                <a:solidFill>
                  <a:schemeClr val="tx2"/>
                </a:solidFill>
              </a:rPr>
              <a:t>unit-test checks pass on Windows and Linux: STUN, RTP/RTCP, stats maths, jitter buffer, AIMD, crypto, tamper</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Known limits, and what we would do next</a:t>
            </a:r>
            <a:endParaRPr lang="en-US" sz="3200" dirty="0"/>
          </a:p>
        </p:txBody>
      </p:sp>
      <p:sp>
        <p:nvSpPr>
          <p:cNvPr id="3" name="text-206"/>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1600" b="1" dirty="0">
                <a:solidFill>
                  <a:schemeClr val="accent5"/>
                </a:solidFill>
              </a:rPr>
              <a:t>Limit</a:t>
            </a:r>
            <a:endParaRPr lang="en-US" sz="1600" dirty="0"/>
          </a:p>
        </p:txBody>
      </p:sp>
      <p:sp>
        <p:nvSpPr>
          <p:cNvPr id="4" name="text-207"/>
          <p:cNvSpPr txBox="1"/>
          <p:nvPr/>
        </p:nvSpPr>
        <p:spPr>
          <a:xfrm>
            <a:off x="6400800" y="1325880"/>
            <a:ext cx="5212080" cy="365760"/>
          </a:xfrm>
          <a:prstGeom prst="rect">
            <a:avLst/>
          </a:prstGeom>
          <a:noFill/>
          <a:ln/>
        </p:spPr>
        <p:txBody>
          <a:bodyPr wrap="square" lIns="0" tIns="0" rIns="0" bIns="0" rtlCol="0" anchor="t"/>
          <a:lstStyle/>
          <a:p>
            <a:pPr indent="0" marL="0">
              <a:buNone/>
            </a:pPr>
            <a:r>
              <a:rPr lang="en-US" sz="1600" b="1" dirty="0">
                <a:solidFill>
                  <a:schemeClr val="accent5"/>
                </a:solidFill>
              </a:rPr>
              <a:t>Next step</a:t>
            </a:r>
            <a:endParaRPr lang="en-US" sz="1600" dirty="0"/>
          </a:p>
        </p:txBody>
      </p:sp>
      <p:sp>
        <p:nvSpPr>
          <p:cNvPr id="5" name="card-208"/>
          <p:cNvSpPr/>
          <p:nvPr/>
        </p:nvSpPr>
        <p:spPr>
          <a:xfrm>
            <a:off x="548640" y="1783080"/>
            <a:ext cx="5577840" cy="731520"/>
          </a:xfrm>
          <a:prstGeom prst="roundRect">
            <a:avLst>
              <a:gd name="adj" fmla="val 15000"/>
            </a:avLst>
          </a:prstGeom>
          <a:solidFill>
            <a:schemeClr val="bg2"/>
          </a:solidFill>
          <a:ln/>
        </p:spPr>
      </p:sp>
      <p:sp>
        <p:nvSpPr>
          <p:cNvPr id="6" name="text-209"/>
          <p:cNvSpPr txBox="1"/>
          <p:nvPr/>
        </p:nvSpPr>
        <p:spPr>
          <a:xfrm>
            <a:off x="777240" y="1783080"/>
            <a:ext cx="5212080" cy="731520"/>
          </a:xfrm>
          <a:prstGeom prst="rect">
            <a:avLst/>
          </a:prstGeom>
          <a:noFill/>
          <a:ln/>
        </p:spPr>
        <p:txBody>
          <a:bodyPr wrap="square" lIns="0" tIns="0" rIns="0" bIns="0" rtlCol="0" anchor="ctr"/>
          <a:lstStyle/>
          <a:p>
            <a:pPr indent="0" marL="0">
              <a:buNone/>
            </a:pPr>
            <a:r>
              <a:rPr lang="en-US" sz="1500" dirty="0">
                <a:solidFill>
                  <a:schemeClr val="tx1"/>
                </a:solidFill>
              </a:rPr>
              <a:t>Random loss and jitter look like congestion</a:t>
            </a:r>
            <a:endParaRPr lang="en-US" sz="1500" dirty="0"/>
          </a:p>
        </p:txBody>
      </p:sp>
      <p:sp>
        <p:nvSpPr>
          <p:cNvPr id="7" name="arrow-210"/>
          <p:cNvSpPr/>
          <p:nvPr/>
        </p:nvSpPr>
        <p:spPr>
          <a:xfrm>
            <a:off x="6172200" y="2148840"/>
            <a:ext cx="182880" cy="0"/>
          </a:xfrm>
          <a:prstGeom prst="line">
            <a:avLst/>
          </a:prstGeom>
          <a:noFill/>
          <a:ln w="31750">
            <a:solidFill>
              <a:srgbClr val="E0782B"/>
            </a:solidFill>
            <a:prstDash val="solid"/>
            <a:tailEnd type="triangle"/>
          </a:ln>
        </p:spPr>
      </p:sp>
      <p:sp>
        <p:nvSpPr>
          <p:cNvPr id="8" name="card-211"/>
          <p:cNvSpPr/>
          <p:nvPr/>
        </p:nvSpPr>
        <p:spPr>
          <a:xfrm>
            <a:off x="6400800" y="1783080"/>
            <a:ext cx="5212080" cy="731520"/>
          </a:xfrm>
          <a:prstGeom prst="roundRect">
            <a:avLst>
              <a:gd name="adj" fmla="val 15000"/>
            </a:avLst>
          </a:prstGeom>
          <a:solidFill>
            <a:srgbClr val="FFF1E6"/>
          </a:solidFill>
          <a:ln/>
        </p:spPr>
      </p:sp>
      <p:sp>
        <p:nvSpPr>
          <p:cNvPr id="9" name="text-212"/>
          <p:cNvSpPr txBox="1"/>
          <p:nvPr/>
        </p:nvSpPr>
        <p:spPr>
          <a:xfrm>
            <a:off x="6629400" y="1783080"/>
            <a:ext cx="4846320" cy="731520"/>
          </a:xfrm>
          <a:prstGeom prst="rect">
            <a:avLst/>
          </a:prstGeom>
          <a:noFill/>
          <a:ln/>
        </p:spPr>
        <p:txBody>
          <a:bodyPr wrap="square" lIns="0" tIns="0" rIns="0" bIns="0" rtlCol="0" anchor="ctr"/>
          <a:lstStyle/>
          <a:p>
            <a:pPr indent="0" marL="0">
              <a:buNone/>
            </a:pPr>
            <a:r>
              <a:rPr lang="en-US" sz="1500" dirty="0">
                <a:solidFill>
                  <a:schemeClr val="tx1"/>
                </a:solidFill>
              </a:rPr>
              <a:t>classify loss by delay trend before backing off</a:t>
            </a:r>
            <a:endParaRPr lang="en-US" sz="1500" dirty="0"/>
          </a:p>
        </p:txBody>
      </p:sp>
      <p:sp>
        <p:nvSpPr>
          <p:cNvPr id="10" name="card-213"/>
          <p:cNvSpPr/>
          <p:nvPr/>
        </p:nvSpPr>
        <p:spPr>
          <a:xfrm>
            <a:off x="548640" y="2651760"/>
            <a:ext cx="5577840" cy="731520"/>
          </a:xfrm>
          <a:prstGeom prst="roundRect">
            <a:avLst>
              <a:gd name="adj" fmla="val 15000"/>
            </a:avLst>
          </a:prstGeom>
          <a:solidFill>
            <a:schemeClr val="bg2"/>
          </a:solidFill>
          <a:ln/>
        </p:spPr>
      </p:sp>
      <p:sp>
        <p:nvSpPr>
          <p:cNvPr id="11" name="text-214"/>
          <p:cNvSpPr txBox="1"/>
          <p:nvPr/>
        </p:nvSpPr>
        <p:spPr>
          <a:xfrm>
            <a:off x="777240" y="2651760"/>
            <a:ext cx="5212080" cy="731520"/>
          </a:xfrm>
          <a:prstGeom prst="rect">
            <a:avLst/>
          </a:prstGeom>
          <a:noFill/>
          <a:ln/>
        </p:spPr>
        <p:txBody>
          <a:bodyPr wrap="square" lIns="0" tIns="0" rIns="0" bIns="0" rtlCol="0" anchor="ctr"/>
          <a:lstStyle/>
          <a:p>
            <a:pPr indent="0" marL="0">
              <a:buNone/>
            </a:pPr>
            <a:r>
              <a:rPr lang="en-US" sz="1500" dirty="0">
                <a:solidFill>
                  <a:schemeClr val="tx1"/>
                </a:solidFill>
              </a:rPr>
              <a:t>250 kbit/s cap: queue already full before feedback returns</a:t>
            </a:r>
            <a:endParaRPr lang="en-US" sz="1500" dirty="0"/>
          </a:p>
        </p:txBody>
      </p:sp>
      <p:sp>
        <p:nvSpPr>
          <p:cNvPr id="12" name="arrow-215"/>
          <p:cNvSpPr/>
          <p:nvPr/>
        </p:nvSpPr>
        <p:spPr>
          <a:xfrm>
            <a:off x="6172200" y="3017520"/>
            <a:ext cx="182880" cy="0"/>
          </a:xfrm>
          <a:prstGeom prst="line">
            <a:avLst/>
          </a:prstGeom>
          <a:noFill/>
          <a:ln w="31750">
            <a:solidFill>
              <a:srgbClr val="E0782B"/>
            </a:solidFill>
            <a:prstDash val="solid"/>
            <a:tailEnd type="triangle"/>
          </a:ln>
        </p:spPr>
      </p:sp>
      <p:sp>
        <p:nvSpPr>
          <p:cNvPr id="13" name="card-216"/>
          <p:cNvSpPr/>
          <p:nvPr/>
        </p:nvSpPr>
        <p:spPr>
          <a:xfrm>
            <a:off x="6400800" y="2651760"/>
            <a:ext cx="5212080" cy="731520"/>
          </a:xfrm>
          <a:prstGeom prst="roundRect">
            <a:avLst>
              <a:gd name="adj" fmla="val 15000"/>
            </a:avLst>
          </a:prstGeom>
          <a:solidFill>
            <a:srgbClr val="FFF1E6"/>
          </a:solidFill>
          <a:ln/>
        </p:spPr>
      </p:sp>
      <p:sp>
        <p:nvSpPr>
          <p:cNvPr id="14" name="text-217"/>
          <p:cNvSpPr txBox="1"/>
          <p:nvPr/>
        </p:nvSpPr>
        <p:spPr>
          <a:xfrm>
            <a:off x="6629400" y="2651760"/>
            <a:ext cx="4846320" cy="731520"/>
          </a:xfrm>
          <a:prstGeom prst="rect">
            <a:avLst/>
          </a:prstGeom>
          <a:noFill/>
          <a:ln/>
        </p:spPr>
        <p:txBody>
          <a:bodyPr wrap="square" lIns="0" tIns="0" rIns="0" bIns="0" rtlCol="0" anchor="ctr"/>
          <a:lstStyle/>
          <a:p>
            <a:pPr indent="0" marL="0">
              <a:buNone/>
            </a:pPr>
            <a:r>
              <a:rPr lang="en-US" sz="1500" dirty="0">
                <a:solidFill>
                  <a:schemeClr val="tx1"/>
                </a:solidFill>
              </a:rPr>
              <a:t>emergency pause-video level; AQM (CoDel) in the network</a:t>
            </a:r>
            <a:endParaRPr lang="en-US" sz="1500" dirty="0"/>
          </a:p>
        </p:txBody>
      </p:sp>
      <p:sp>
        <p:nvSpPr>
          <p:cNvPr id="15" name="card-218"/>
          <p:cNvSpPr/>
          <p:nvPr/>
        </p:nvSpPr>
        <p:spPr>
          <a:xfrm>
            <a:off x="548640" y="3520440"/>
            <a:ext cx="5577840" cy="731520"/>
          </a:xfrm>
          <a:prstGeom prst="roundRect">
            <a:avLst>
              <a:gd name="adj" fmla="val 15000"/>
            </a:avLst>
          </a:prstGeom>
          <a:solidFill>
            <a:schemeClr val="bg2"/>
          </a:solidFill>
          <a:ln/>
        </p:spPr>
      </p:sp>
      <p:sp>
        <p:nvSpPr>
          <p:cNvPr id="16" name="text-219"/>
          <p:cNvSpPr txBox="1"/>
          <p:nvPr/>
        </p:nvSpPr>
        <p:spPr>
          <a:xfrm>
            <a:off x="777240" y="3520440"/>
            <a:ext cx="5212080" cy="731520"/>
          </a:xfrm>
          <a:prstGeom prst="rect">
            <a:avLst/>
          </a:prstGeom>
          <a:noFill/>
          <a:ln/>
        </p:spPr>
        <p:txBody>
          <a:bodyPr wrap="square" lIns="0" tIns="0" rIns="0" bIns="0" rtlCol="0" anchor="ctr"/>
          <a:lstStyle/>
          <a:p>
            <a:pPr indent="0" marL="0">
              <a:buNone/>
            </a:pPr>
            <a:r>
              <a:rPr lang="en-US" sz="1500" dirty="0">
                <a:solidFill>
                  <a:schemeClr val="tx1"/>
                </a:solidFill>
              </a:rPr>
              <a:t>Jitter buffer adds up to ~220 ms under heavy jitter</a:t>
            </a:r>
            <a:endParaRPr lang="en-US" sz="1500" dirty="0"/>
          </a:p>
        </p:txBody>
      </p:sp>
      <p:sp>
        <p:nvSpPr>
          <p:cNvPr id="17" name="arrow-220"/>
          <p:cNvSpPr/>
          <p:nvPr/>
        </p:nvSpPr>
        <p:spPr>
          <a:xfrm>
            <a:off x="6172200" y="3886200"/>
            <a:ext cx="182880" cy="0"/>
          </a:xfrm>
          <a:prstGeom prst="line">
            <a:avLst/>
          </a:prstGeom>
          <a:noFill/>
          <a:ln w="31750">
            <a:solidFill>
              <a:srgbClr val="E0782B"/>
            </a:solidFill>
            <a:prstDash val="solid"/>
            <a:tailEnd type="triangle"/>
          </a:ln>
        </p:spPr>
      </p:sp>
      <p:sp>
        <p:nvSpPr>
          <p:cNvPr id="18" name="card-221"/>
          <p:cNvSpPr/>
          <p:nvPr/>
        </p:nvSpPr>
        <p:spPr>
          <a:xfrm>
            <a:off x="6400800" y="3520440"/>
            <a:ext cx="5212080" cy="731520"/>
          </a:xfrm>
          <a:prstGeom prst="roundRect">
            <a:avLst>
              <a:gd name="adj" fmla="val 15000"/>
            </a:avLst>
          </a:prstGeom>
          <a:solidFill>
            <a:srgbClr val="FFF1E6"/>
          </a:solidFill>
          <a:ln/>
        </p:spPr>
      </p:sp>
      <p:sp>
        <p:nvSpPr>
          <p:cNvPr id="19" name="text-222"/>
          <p:cNvSpPr txBox="1"/>
          <p:nvPr/>
        </p:nvSpPr>
        <p:spPr>
          <a:xfrm>
            <a:off x="6629400" y="3520440"/>
            <a:ext cx="4846320" cy="731520"/>
          </a:xfrm>
          <a:prstGeom prst="rect">
            <a:avLst/>
          </a:prstGeom>
          <a:noFill/>
          <a:ln/>
        </p:spPr>
        <p:txBody>
          <a:bodyPr wrap="square" lIns="0" tIns="0" rIns="0" bIns="0" rtlCol="0" anchor="ctr"/>
          <a:lstStyle/>
          <a:p>
            <a:pPr indent="0" marL="0">
              <a:buNone/>
            </a:pPr>
            <a:r>
              <a:rPr lang="en-US" sz="1500" dirty="0">
                <a:solidFill>
                  <a:schemeClr val="tx1"/>
                </a:solidFill>
              </a:rPr>
              <a:t>trade latency vs smoothness per application (voice vs video)</a:t>
            </a:r>
            <a:endParaRPr lang="en-US" sz="1500" dirty="0"/>
          </a:p>
        </p:txBody>
      </p:sp>
      <p:sp>
        <p:nvSpPr>
          <p:cNvPr id="20" name="card-223"/>
          <p:cNvSpPr/>
          <p:nvPr/>
        </p:nvSpPr>
        <p:spPr>
          <a:xfrm>
            <a:off x="548640" y="4389120"/>
            <a:ext cx="5577840" cy="731520"/>
          </a:xfrm>
          <a:prstGeom prst="roundRect">
            <a:avLst>
              <a:gd name="adj" fmla="val 15000"/>
            </a:avLst>
          </a:prstGeom>
          <a:solidFill>
            <a:schemeClr val="bg2"/>
          </a:solidFill>
          <a:ln/>
        </p:spPr>
      </p:sp>
      <p:sp>
        <p:nvSpPr>
          <p:cNvPr id="21" name="text-224"/>
          <p:cNvSpPr txBox="1"/>
          <p:nvPr/>
        </p:nvSpPr>
        <p:spPr>
          <a:xfrm>
            <a:off x="777240" y="4389120"/>
            <a:ext cx="5212080" cy="731520"/>
          </a:xfrm>
          <a:prstGeom prst="rect">
            <a:avLst/>
          </a:prstGeom>
          <a:noFill/>
          <a:ln/>
        </p:spPr>
        <p:txBody>
          <a:bodyPr wrap="square" lIns="0" tIns="0" rIns="0" bIns="0" rtlCol="0" anchor="ctr"/>
          <a:lstStyle/>
          <a:p>
            <a:pPr indent="0" marL="0">
              <a:buNone/>
            </a:pPr>
            <a:r>
              <a:rPr lang="en-US" sz="1500" dirty="0">
                <a:solidFill>
                  <a:schemeClr val="tx1"/>
                </a:solidFill>
              </a:rPr>
              <a:t>No TURN relay: two symmetric NATs cannot connect</a:t>
            </a:r>
            <a:endParaRPr lang="en-US" sz="1500" dirty="0"/>
          </a:p>
        </p:txBody>
      </p:sp>
      <p:sp>
        <p:nvSpPr>
          <p:cNvPr id="22" name="arrow-225"/>
          <p:cNvSpPr/>
          <p:nvPr/>
        </p:nvSpPr>
        <p:spPr>
          <a:xfrm>
            <a:off x="6172200" y="4754880"/>
            <a:ext cx="182880" cy="0"/>
          </a:xfrm>
          <a:prstGeom prst="line">
            <a:avLst/>
          </a:prstGeom>
          <a:noFill/>
          <a:ln w="31750">
            <a:solidFill>
              <a:srgbClr val="E0782B"/>
            </a:solidFill>
            <a:prstDash val="solid"/>
            <a:tailEnd type="triangle"/>
          </a:ln>
        </p:spPr>
      </p:sp>
      <p:sp>
        <p:nvSpPr>
          <p:cNvPr id="23" name="card-226"/>
          <p:cNvSpPr/>
          <p:nvPr/>
        </p:nvSpPr>
        <p:spPr>
          <a:xfrm>
            <a:off x="6400800" y="4389120"/>
            <a:ext cx="5212080" cy="731520"/>
          </a:xfrm>
          <a:prstGeom prst="roundRect">
            <a:avLst>
              <a:gd name="adj" fmla="val 15000"/>
            </a:avLst>
          </a:prstGeom>
          <a:solidFill>
            <a:srgbClr val="FFF1E6"/>
          </a:solidFill>
          <a:ln/>
        </p:spPr>
      </p:sp>
      <p:sp>
        <p:nvSpPr>
          <p:cNvPr id="24" name="text-227"/>
          <p:cNvSpPr txBox="1"/>
          <p:nvPr/>
        </p:nvSpPr>
        <p:spPr>
          <a:xfrm>
            <a:off x="6629400" y="4389120"/>
            <a:ext cx="4846320" cy="731520"/>
          </a:xfrm>
          <a:prstGeom prst="rect">
            <a:avLst/>
          </a:prstGeom>
          <a:noFill/>
          <a:ln/>
        </p:spPr>
        <p:txBody>
          <a:bodyPr wrap="square" lIns="0" tIns="0" rIns="0" bIns="0" rtlCol="0" anchor="ctr"/>
          <a:lstStyle/>
          <a:p>
            <a:pPr indent="0" marL="0">
              <a:buNone/>
            </a:pPr>
            <a:r>
              <a:rPr lang="en-US" sz="1500" dirty="0">
                <a:solidFill>
                  <a:schemeClr val="tx1"/>
                </a:solidFill>
              </a:rPr>
              <a:t>add a TURN fallback</a:t>
            </a:r>
            <a:endParaRPr lang="en-US" sz="1500" dirty="0"/>
          </a:p>
        </p:txBody>
      </p:sp>
      <p:sp>
        <p:nvSpPr>
          <p:cNvPr id="25" name="card-228"/>
          <p:cNvSpPr/>
          <p:nvPr/>
        </p:nvSpPr>
        <p:spPr>
          <a:xfrm>
            <a:off x="548640" y="5257800"/>
            <a:ext cx="5577840" cy="731520"/>
          </a:xfrm>
          <a:prstGeom prst="roundRect">
            <a:avLst>
              <a:gd name="adj" fmla="val 15000"/>
            </a:avLst>
          </a:prstGeom>
          <a:solidFill>
            <a:schemeClr val="bg2"/>
          </a:solidFill>
          <a:ln/>
        </p:spPr>
      </p:sp>
      <p:sp>
        <p:nvSpPr>
          <p:cNvPr id="26" name="text-229"/>
          <p:cNvSpPr txBox="1"/>
          <p:nvPr/>
        </p:nvSpPr>
        <p:spPr>
          <a:xfrm>
            <a:off x="777240" y="5257800"/>
            <a:ext cx="5212080" cy="731520"/>
          </a:xfrm>
          <a:prstGeom prst="rect">
            <a:avLst/>
          </a:prstGeom>
          <a:noFill/>
          <a:ln/>
        </p:spPr>
        <p:txBody>
          <a:bodyPr wrap="square" lIns="0" tIns="0" rIns="0" bIns="0" rtlCol="0" anchor="ctr"/>
          <a:lstStyle/>
          <a:p>
            <a:pPr indent="0" marL="0">
              <a:buNone/>
            </a:pPr>
            <a:r>
              <a:rPr lang="en-US" sz="1500" dirty="0">
                <a:solidFill>
                  <a:schemeClr val="tx1"/>
                </a:solidFill>
              </a:rPr>
              <a:t>Mesh tops out near 4 people</a:t>
            </a:r>
            <a:endParaRPr lang="en-US" sz="1500" dirty="0"/>
          </a:p>
        </p:txBody>
      </p:sp>
      <p:sp>
        <p:nvSpPr>
          <p:cNvPr id="27" name="arrow-230"/>
          <p:cNvSpPr/>
          <p:nvPr/>
        </p:nvSpPr>
        <p:spPr>
          <a:xfrm>
            <a:off x="6172200" y="5623560"/>
            <a:ext cx="182880" cy="0"/>
          </a:xfrm>
          <a:prstGeom prst="line">
            <a:avLst/>
          </a:prstGeom>
          <a:noFill/>
          <a:ln w="31750">
            <a:solidFill>
              <a:srgbClr val="E0782B"/>
            </a:solidFill>
            <a:prstDash val="solid"/>
            <a:tailEnd type="triangle"/>
          </a:ln>
        </p:spPr>
      </p:sp>
      <p:sp>
        <p:nvSpPr>
          <p:cNvPr id="28" name="card-231"/>
          <p:cNvSpPr/>
          <p:nvPr/>
        </p:nvSpPr>
        <p:spPr>
          <a:xfrm>
            <a:off x="6400800" y="5257800"/>
            <a:ext cx="5212080" cy="731520"/>
          </a:xfrm>
          <a:prstGeom prst="roundRect">
            <a:avLst>
              <a:gd name="adj" fmla="val 15000"/>
            </a:avLst>
          </a:prstGeom>
          <a:solidFill>
            <a:srgbClr val="FFF1E6"/>
          </a:solidFill>
          <a:ln/>
        </p:spPr>
      </p:sp>
      <p:sp>
        <p:nvSpPr>
          <p:cNvPr id="29" name="text-232"/>
          <p:cNvSpPr txBox="1"/>
          <p:nvPr/>
        </p:nvSpPr>
        <p:spPr>
          <a:xfrm>
            <a:off x="6629400" y="5257800"/>
            <a:ext cx="4846320" cy="731520"/>
          </a:xfrm>
          <a:prstGeom prst="rect">
            <a:avLst/>
          </a:prstGeom>
          <a:noFill/>
          <a:ln/>
        </p:spPr>
        <p:txBody>
          <a:bodyPr wrap="square" lIns="0" tIns="0" rIns="0" bIns="0" rtlCol="0" anchor="ctr"/>
          <a:lstStyle/>
          <a:p>
            <a:pPr indent="0" marL="0">
              <a:buNone/>
            </a:pPr>
            <a:r>
              <a:rPr lang="en-US" sz="1500" dirty="0">
                <a:solidFill>
                  <a:schemeClr val="tx1"/>
                </a:solidFill>
              </a:rPr>
              <a:t>SFU with simulcast so each receiver gets what its link supports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599"/>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Takeaways</a:t>
            </a:r>
            <a:endParaRPr lang="en-US" sz="3600" dirty="0"/>
          </a:p>
        </p:txBody>
      </p:sp>
      <p:sp>
        <p:nvSpPr>
          <p:cNvPr id="3" name="badge-233"/>
          <p:cNvSpPr/>
          <p:nvPr/>
        </p:nvSpPr>
        <p:spPr>
          <a:xfrm>
            <a:off x="731520" y="1645920"/>
            <a:ext cx="438912" cy="438912"/>
          </a:xfrm>
          <a:prstGeom prst="ellipse">
            <a:avLst/>
          </a:prstGeom>
          <a:solidFill>
            <a:schemeClr val="accent1"/>
          </a:solidFill>
          <a:ln/>
        </p:spPr>
      </p:sp>
      <p:sp>
        <p:nvSpPr>
          <p:cNvPr id="4" name="badge-text-234"/>
          <p:cNvSpPr txBox="1"/>
          <p:nvPr/>
        </p:nvSpPr>
        <p:spPr>
          <a:xfrm>
            <a:off x="731520" y="164592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235"/>
          <p:cNvSpPr txBox="1"/>
          <p:nvPr/>
        </p:nvSpPr>
        <p:spPr>
          <a:xfrm>
            <a:off x="1417320" y="160020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Both halves of the loop matter</a:t>
            </a:r>
            <a:endParaRPr lang="en-US" sz="2200" dirty="0"/>
          </a:p>
        </p:txBody>
      </p:sp>
      <p:sp>
        <p:nvSpPr>
          <p:cNvPr id="6" name="text-236"/>
          <p:cNvSpPr txBox="1"/>
          <p:nvPr/>
        </p:nvSpPr>
        <p:spPr>
          <a:xfrm>
            <a:off x="1417320" y="2057400"/>
            <a:ext cx="10058400" cy="548640"/>
          </a:xfrm>
          <a:prstGeom prst="rect">
            <a:avLst/>
          </a:prstGeom>
          <a:noFill/>
          <a:ln/>
        </p:spPr>
        <p:txBody>
          <a:bodyPr wrap="square" lIns="0" tIns="0" rIns="0" bIns="0" rtlCol="0" anchor="t"/>
          <a:lstStyle/>
          <a:p>
            <a:pPr indent="0" marL="0">
              <a:buNone/>
            </a:pPr>
            <a:r>
              <a:rPr lang="en-US" sz="1600" dirty="0">
                <a:solidFill>
                  <a:schemeClr val="bg2"/>
                </a:solidFill>
              </a:rPr>
              <a:t>jitter buffer at the receiver (88 % → 0.1 % concealed), rate control at the sender (10.5 s → 3 ms RTT)</a:t>
            </a:r>
            <a:endParaRPr lang="en-US" sz="1600" dirty="0"/>
          </a:p>
        </p:txBody>
      </p:sp>
      <p:sp>
        <p:nvSpPr>
          <p:cNvPr id="7" name="badge-237"/>
          <p:cNvSpPr/>
          <p:nvPr/>
        </p:nvSpPr>
        <p:spPr>
          <a:xfrm>
            <a:off x="731520" y="2834640"/>
            <a:ext cx="438912" cy="438912"/>
          </a:xfrm>
          <a:prstGeom prst="ellipse">
            <a:avLst/>
          </a:prstGeom>
          <a:solidFill>
            <a:schemeClr val="accent1"/>
          </a:solidFill>
          <a:ln/>
        </p:spPr>
      </p:sp>
      <p:sp>
        <p:nvSpPr>
          <p:cNvPr id="8" name="badge-text-238"/>
          <p:cNvSpPr txBox="1"/>
          <p:nvPr/>
        </p:nvSpPr>
        <p:spPr>
          <a:xfrm>
            <a:off x="731520" y="283464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239"/>
          <p:cNvSpPr txBox="1"/>
          <p:nvPr/>
        </p:nvSpPr>
        <p:spPr>
          <a:xfrm>
            <a:off x="1417320" y="278892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Everything is our own C</a:t>
            </a:r>
            <a:endParaRPr lang="en-US" sz="2200" dirty="0"/>
          </a:p>
        </p:txBody>
      </p:sp>
      <p:sp>
        <p:nvSpPr>
          <p:cNvPr id="10" name="text-240"/>
          <p:cNvSpPr txBox="1"/>
          <p:nvPr/>
        </p:nvSpPr>
        <p:spPr>
          <a:xfrm>
            <a:off x="1417320" y="3246120"/>
            <a:ext cx="10058400" cy="548640"/>
          </a:xfrm>
          <a:prstGeom prst="rect">
            <a:avLst/>
          </a:prstGeom>
          <a:noFill/>
          <a:ln/>
        </p:spPr>
        <p:txBody>
          <a:bodyPr wrap="square" lIns="0" tIns="0" rIns="0" bIns="0" rtlCol="0" anchor="t"/>
          <a:lstStyle/>
          <a:p>
            <a:pPr indent="0" marL="0">
              <a:buNone/>
            </a:pPr>
            <a:r>
              <a:rPr lang="en-US" sz="1600" dirty="0">
                <a:solidFill>
                  <a:schemeClr val="bg2"/>
                </a:solidFill>
              </a:rPr>
              <a:t>sockets, signalling, STUN, framing, repair, rate control and encryption, on Windows and Linux</a:t>
            </a:r>
            <a:endParaRPr lang="en-US" sz="1600" dirty="0"/>
          </a:p>
        </p:txBody>
      </p:sp>
      <p:sp>
        <p:nvSpPr>
          <p:cNvPr id="11" name="badge-241"/>
          <p:cNvSpPr/>
          <p:nvPr/>
        </p:nvSpPr>
        <p:spPr>
          <a:xfrm>
            <a:off x="731520" y="4023360"/>
            <a:ext cx="438912" cy="438912"/>
          </a:xfrm>
          <a:prstGeom prst="ellipse">
            <a:avLst/>
          </a:prstGeom>
          <a:solidFill>
            <a:schemeClr val="accent1"/>
          </a:solidFill>
          <a:ln/>
        </p:spPr>
      </p:sp>
      <p:sp>
        <p:nvSpPr>
          <p:cNvPr id="12" name="badge-text-242"/>
          <p:cNvSpPr txBox="1"/>
          <p:nvPr/>
        </p:nvSpPr>
        <p:spPr>
          <a:xfrm>
            <a:off x="731520" y="402336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243"/>
          <p:cNvSpPr txBox="1"/>
          <p:nvPr/>
        </p:nvSpPr>
        <p:spPr>
          <a:xfrm>
            <a:off x="1417320" y="3977640"/>
            <a:ext cx="10058400" cy="411480"/>
          </a:xfrm>
          <a:prstGeom prst="rect">
            <a:avLst/>
          </a:prstGeom>
          <a:noFill/>
          <a:ln/>
        </p:spPr>
        <p:txBody>
          <a:bodyPr wrap="square" lIns="0" tIns="0" rIns="0" bIns="0" rtlCol="0" anchor="t"/>
          <a:lstStyle/>
          <a:p>
            <a:pPr indent="0" marL="0">
              <a:buNone/>
            </a:pPr>
            <a:r>
              <a:rPr lang="en-US" sz="2200" b="1" dirty="0">
                <a:solidFill>
                  <a:schemeClr val="bg1"/>
                </a:solidFill>
              </a:rPr>
              <a:t>Measured, not assumed</a:t>
            </a:r>
            <a:endParaRPr lang="en-US" sz="2200" dirty="0"/>
          </a:p>
        </p:txBody>
      </p:sp>
      <p:sp>
        <p:nvSpPr>
          <p:cNvPr id="14" name="text-244"/>
          <p:cNvSpPr txBox="1"/>
          <p:nvPr/>
        </p:nvSpPr>
        <p:spPr>
          <a:xfrm>
            <a:off x="1417320" y="4434840"/>
            <a:ext cx="10058400" cy="548640"/>
          </a:xfrm>
          <a:prstGeom prst="rect">
            <a:avLst/>
          </a:prstGeom>
          <a:noFill/>
          <a:ln/>
        </p:spPr>
        <p:txBody>
          <a:bodyPr wrap="square" lIns="0" tIns="0" rIns="0" bIns="0" rtlCol="0" anchor="t"/>
          <a:lstStyle/>
          <a:p>
            <a:pPr indent="0" marL="0">
              <a:buNone/>
            </a:pPr>
            <a:r>
              <a:rPr lang="en-US" sz="1600" dirty="0">
                <a:solidFill>
                  <a:schemeClr val="bg2"/>
                </a:solidFill>
              </a:rPr>
              <a:t>28 impairment runs, jitter-buffer A/B, changing bandwidth, mesh and a real cross-network call</a:t>
            </a:r>
            <a:endParaRPr lang="en-US" sz="1600" dirty="0"/>
          </a:p>
        </p:txBody>
      </p:sp>
      <p:sp>
        <p:nvSpPr>
          <p:cNvPr id="15" name="demo-245"/>
          <p:cNvSpPr/>
          <p:nvPr/>
        </p:nvSpPr>
        <p:spPr>
          <a:xfrm>
            <a:off x="731520" y="5166360"/>
            <a:ext cx="10698480" cy="1097280"/>
          </a:xfrm>
          <a:prstGeom prst="roundRect">
            <a:avLst>
              <a:gd name="adj" fmla="val 10000"/>
            </a:avLst>
          </a:prstGeom>
          <a:solidFill>
            <a:srgbClr val="1F2E52"/>
          </a:solidFill>
          <a:ln/>
        </p:spPr>
      </p:sp>
      <p:sp>
        <p:nvSpPr>
          <p:cNvPr id="16" name="text-246"/>
          <p:cNvSpPr txBox="1"/>
          <p:nvPr/>
        </p:nvSpPr>
        <p:spPr>
          <a:xfrm>
            <a:off x="1005840" y="5257800"/>
            <a:ext cx="10241280" cy="914400"/>
          </a:xfrm>
          <a:prstGeom prst="rect">
            <a:avLst/>
          </a:prstGeom>
          <a:noFill/>
          <a:ln/>
        </p:spPr>
        <p:txBody>
          <a:bodyPr wrap="square" lIns="0" tIns="0" rIns="0" bIns="0" rtlCol="0" anchor="ctr"/>
          <a:lstStyle/>
          <a:p>
            <a:pPr indent="0" marL="0">
              <a:buNone/>
            </a:pPr>
            <a:r>
              <a:rPr lang="en-US" sz="1500" b="1" dirty="0">
                <a:solidFill>
                  <a:schemeClr val="accent1"/>
                </a:solidFill>
              </a:rPr>
              <a:t>Live demo</a:t>
            </a:r>
            <a:endParaRPr lang="en-US" sz="1600" dirty="0"/>
          </a:p>
          <a:p>
            <a:pPr indent="0" marL="0">
              <a:buNone/>
            </a:pPr>
            <a:r>
              <a:rPr lang="en-US" sz="1400" dirty="0">
                <a:solidFill>
                  <a:schemeClr val="bg2"/>
                </a:solidFill>
                <a:latin typeface="Consolas" pitchFamily="34" charset="0"/>
                <a:ea typeface="Consolas" pitchFamily="34" charset="-122"/>
                <a:cs typeface="Consolas" pitchFamily="34" charset="-120"/>
              </a:rPr>
              <a:t>mm-server   ·   mm --server 127.0.0.1 --room demo --name A   ·   mm ... --name B --test</a:t>
            </a:r>
            <a:endParaRPr lang="en-US" sz="1600" dirty="0"/>
          </a:p>
        </p:txBody>
      </p:sp>
    </p:spTree>
  </p:cSld>
  <p:clrMapOvr>
    <a:masterClrMapping/>
  </p:clrMapOvr>
</p:sld>
</file>

<file path=ppt/theme/theme1.xml><?xml version="1.0" encoding="utf-8"?>
<a:theme xmlns:a="http://schemas.openxmlformats.org/drawingml/2006/main" name="Mini-Meet">
  <a:themeElements>
    <a:clrScheme name="Mini-Meet">
      <a:dk1>
        <a:srgbClr val="14213D"/>
      </a:dk1>
      <a:lt1>
        <a:srgbClr val="FFFFFF"/>
      </a:lt1>
      <a:dk2>
        <a:srgbClr val="3D4A5C"/>
      </a:dk2>
      <a:lt2>
        <a:srgbClr val="EEF1F5"/>
      </a:lt2>
      <a:accent1>
        <a:srgbClr val="E0782B"/>
      </a:accent1>
      <a:accent2>
        <a:srgbClr val="2F5BB5"/>
      </a:accent2>
      <a:accent3>
        <a:srgbClr val="2E8B57"/>
      </a:accent3>
      <a:accent4>
        <a:srgbClr val="B23A48"/>
      </a:accent4>
      <a:accent5>
        <a:srgbClr val="7A8599"/>
      </a:accent5>
      <a:accent6>
        <a:srgbClr val="F2B134"/>
      </a:accent6>
      <a:hlink>
        <a:srgbClr val="2F5BB5"/>
      </a:hlink>
      <a:folHlink>
        <a:srgbClr val="6B4FA0"/>
      </a:folHlink>
    </a:clrScheme>
    <a:fontScheme name="Mini-Me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Mini-Meet: real-time video conferencing in C</dc:title>
  <dc:subject>Computer Networks course project 16 (also covers project 11)</dc:subject>
  <dc:creator>PptxGenJS</dc:creator>
  <cp:lastModifiedBy>PptxGenJS</cp:lastModifiedBy>
  <cp:revision>1</cp:revision>
  <dcterms:created xsi:type="dcterms:W3CDTF">2026-10-21T18:01:18Z</dcterms:created>
  <dcterms:modified xsi:type="dcterms:W3CDTF">2026-10-21T18:01:18Z</dcterms:modified>
</cp:coreProperties>
</file>